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10800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0.png"/>
          <p:cNvPicPr>
            <a:picLocks noChangeAspect="1"/>
          </p:cNvPicPr>
          <p:nvPr/>
        </p:nvPicPr>
        <p:blipFill>
          <a:blip r:embed="rId2"/>
          <a:srcRect t="8524" b="8524"/>
          <a:stretch>
            <a:fillRect/>
          </a:stretch>
        </p:blipFill>
        <p:spPr>
          <a:xfrm>
            <a:off x="0" y="504000"/>
            <a:ext cx="21384000" cy="75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32000"/>
            <a:ext cx="21384000" cy="7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100000"/>
            <a:ext cx="21384000" cy="72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4000" y="8496000"/>
            <a:ext cx="2340000" cy="17824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0000" y="8208000"/>
            <a:ext cx="15624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130"/>
              </a:spcAft>
            </a:pPr>
            <a:r>
              <a:rPr sz="1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智慧香爐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9864000"/>
            <a:ext cx="15624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400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香火不滅・空氣常青——我們讓香繼續燒，但煙不再害人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11376000"/>
            <a:ext cx="6120000" cy="43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11952000"/>
            <a:ext cx="6120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850"/>
              </a:spcAft>
            </a:pPr>
            <a:r>
              <a:rPr sz="110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50 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8000" y="13968000"/>
            <a:ext cx="5544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殿內 PM2.5 達戶外 50 倍</a:t>
            </a:r>
          </a:p>
          <a:p>
            <a:pPr algn="ctr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龍山寺實測 1,360 μg/m³・台大 2015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2000" y="11376000"/>
            <a:ext cx="6120000" cy="43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2000" y="11952000"/>
            <a:ext cx="6120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850"/>
              </a:spcAft>
            </a:pPr>
            <a:r>
              <a:rPr sz="110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22 億人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0" y="13968000"/>
            <a:ext cx="5544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全球佛道印信仰人口</a:t>
            </a:r>
          </a:p>
          <a:p>
            <a:pPr algn="ctr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焚香是跨文明共同儀式核心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84000" y="11376000"/>
            <a:ext cx="6120000" cy="43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84000" y="11952000"/>
            <a:ext cx="6120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850"/>
              </a:spcAft>
            </a:pPr>
            <a:r>
              <a:rPr sz="110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3,000+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2000" y="13968000"/>
            <a:ext cx="5544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每年宮廟空污陳情案件</a:t>
            </a:r>
          </a:p>
          <a:p>
            <a:pPr algn="ctr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環保署統計・年年累積的鄰里壓力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16632000"/>
            <a:ext cx="19224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820"/>
              </a:spcAft>
            </a:pPr>
            <a:r>
              <a:rPr sz="52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為什麼這個問題一直解決不了？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17568000"/>
            <a:ext cx="5400000" cy="12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0" y="17568000"/>
            <a:ext cx="5040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60"/>
              </a:spcAft>
            </a:pPr>
            <a:r>
              <a:rPr sz="36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封爐・減香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000" y="17568000"/>
            <a:ext cx="8640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50"/>
              </a:spcAft>
            </a:pPr>
            <a:r>
              <a:rPr sz="3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叫信眾改變信仰——2017 年數萬人上凱道抗爭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68000" y="17568000"/>
            <a:ext cx="4536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儀式被犧牲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0000" y="19224000"/>
            <a:ext cx="5400000" cy="12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0000" y="19224000"/>
            <a:ext cx="5040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60"/>
              </a:spcAft>
            </a:pPr>
            <a:r>
              <a:rPr sz="36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碳中和金爐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000" y="19224000"/>
            <a:ext cx="8640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50"/>
              </a:spcAft>
            </a:pPr>
            <a:r>
              <a:rPr sz="3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有效，但一座約 500 萬元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68000" y="19224000"/>
            <a:ext cx="4536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中小廟宇買不起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0000" y="20880000"/>
            <a:ext cx="5400000" cy="12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40000" y="20880000"/>
            <a:ext cx="5040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60"/>
              </a:spcAft>
            </a:pPr>
            <a:r>
              <a:rPr sz="36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清淨機／IoT 監測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000" y="20880000"/>
            <a:ext cx="8640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50"/>
              </a:spcAft>
            </a:pPr>
            <a:r>
              <a:rPr sz="30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管不到爐口點源／只量測、不治理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68000" y="20880000"/>
            <a:ext cx="4536000" cy="12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治標不治本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0000" y="22968000"/>
            <a:ext cx="19224000" cy="208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0000" y="22968000"/>
            <a:ext cx="144000" cy="2088000"/>
          </a:xfrm>
          <a:prstGeom prst="rect">
            <a:avLst/>
          </a:prstGeom>
          <a:solidFill>
            <a:srgbClr val="3D6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84000" y="23292000"/>
            <a:ext cx="18216000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4000" b="1">
                <a:solidFill>
                  <a:srgbClr val="3D6B9E"/>
                </a:solidFill>
                <a:latin typeface="微軟正黑體"/>
                <a:ea typeface="微軟正黑體"/>
                <a:cs typeface="微軟正黑體"/>
              </a:rPr>
              <a:t>第一性原理：空污濃度 ＝ 產生速率 − 移除速率</a:t>
            </a:r>
          </a:p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產生端是信仰，動不得——所以我們只放大「移除端」。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000" y="25704000"/>
            <a:ext cx="19224000" cy="2304000"/>
          </a:xfrm>
          <a:prstGeom prst="roundRect">
            <a:avLst>
              <a:gd name="adj" fmla="val 4000"/>
            </a:avLst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0000" y="26064000"/>
            <a:ext cx="19224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240"/>
              </a:spcAft>
            </a:pPr>
            <a:r>
              <a:rPr sz="6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不禁香・不封爐</a:t>
            </a:r>
          </a:p>
          <a:p>
            <a:pPr algn="ctr">
              <a:lnSpc>
                <a:spcPct val="112000"/>
              </a:lnSpc>
              <a:spcAft>
                <a:spcPts val="1330"/>
              </a:spcAft>
            </a:pPr>
            <a:r>
              <a:rPr sz="380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把治理裝進香爐，而不是把禁令加在信眾身上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29268000"/>
            <a:ext cx="21384000" cy="1008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0000" y="29412000"/>
            <a:ext cx="17064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BDB8AF"/>
                </a:solidFill>
                <a:latin typeface="微軟正黑體"/>
                <a:ea typeface="微軟正黑體"/>
                <a:cs typeface="微軟正黑體"/>
              </a:rPr>
              <a:t>智慧香爐｜有拜有包庇（高中職組）｜李承鴻・曾翊軒｜指導：倪瑞鴻・高若瑋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144000" y="29412000"/>
            <a:ext cx="2160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10"/>
              </a:spcAft>
            </a:pPr>
            <a:r>
              <a:rPr sz="2600" b="1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問題　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864000"/>
            <a:ext cx="19224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50"/>
              </a:spcAft>
            </a:pPr>
            <a:r>
              <a:rPr sz="30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ROBOTIC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296000"/>
            <a:ext cx="19224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79"/>
              </a:spcAft>
            </a:pPr>
            <a:r>
              <a:rPr sz="8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讓香爐自己學會呼吸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664000"/>
            <a:ext cx="2520000" cy="936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4000" y="2664000"/>
            <a:ext cx="16560000" cy="2880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880000"/>
            <a:ext cx="192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20"/>
              </a:spcAft>
            </a:pPr>
            <a:r>
              <a:rPr sz="32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加裝在既有香爐上的 retrofit 自主治理模組——感測、決策、機構三層閉環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3600000"/>
            <a:ext cx="9072000" cy="68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view_組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00" y="3816000"/>
            <a:ext cx="8352000" cy="626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0000" y="10008000"/>
            <a:ext cx="907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展示機組裝算繪（參數化 CAD・5 件列印件）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0000" y="10800000"/>
            <a:ext cx="9072000" cy="18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0000" y="10800000"/>
            <a:ext cx="9072000" cy="108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0000" y="11052000"/>
            <a:ext cx="83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① 漏斗集煙罩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11556000"/>
            <a:ext cx="8352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向上外擴 180mm 大口——插香不必對準；下段直筒接風扇法蘭；倒印 34° 免支撐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0000" y="12960000"/>
            <a:ext cx="9072000" cy="18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0000" y="12960000"/>
            <a:ext cx="9072000" cy="10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0000" y="13212000"/>
            <a:ext cx="83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② 三段過濾鏈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13716000"/>
            <a:ext cx="8352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金屬紗網（火星前濾）→ HEPA → 活性碳——順序即安全；抽拉式、扇葉只吃濾後淨氣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0000" y="15120000"/>
            <a:ext cx="9072000" cy="18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80000" y="15120000"/>
            <a:ext cx="9072000" cy="10800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0000" y="15372000"/>
            <a:ext cx="835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4E7D46"/>
                </a:solidFill>
                <a:latin typeface="微軟正黑體"/>
                <a:ea typeface="微軟正黑體"/>
                <a:cs typeface="微軟正黑體"/>
              </a:rPr>
              <a:t>③ 變頻抽排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0000" y="15876000"/>
            <a:ext cx="8352000" cy="10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隨人流與濃度自動調速——省電低噪削尖峰；斷電＝回復傳統香爐（故障安全）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0000" y="17280000"/>
            <a:ext cx="9072000" cy="266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80000" y="17280000"/>
            <a:ext cx="144000" cy="2664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2000" y="17568000"/>
            <a:ext cx="8208000" cy="22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20"/>
              </a:spcAft>
            </a:pPr>
            <a:r>
              <a:rPr sz="32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設計迭代：為真實行為讓步</a:t>
            </a:r>
          </a:p>
          <a:p>
            <a:pPr algn="l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・縮口 96mm → 漏斗大口 180mm：插香零門檻</a:t>
            </a:r>
          </a:p>
          <a:p>
            <a:pPr algn="l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・磁力理香機構與自由插香不相容 → 整組移除，</a:t>
            </a:r>
          </a:p>
          <a:p>
            <a:pPr algn="l">
              <a:lnSpc>
                <a:spcPct val="112000"/>
              </a:lnSpc>
              <a:spcAft>
                <a:spcPts val="875"/>
              </a:spcAft>
            </a:pPr>
            <a:r>
              <a:rPr sz="25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　資源集中於真正有效的抽排治理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28000" y="3600000"/>
            <a:ext cx="9576000" cy="669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000" y="3816000"/>
            <a:ext cx="9000000" cy="60123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728000" y="10656000"/>
            <a:ext cx="9576000" cy="50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6000" y="10944000"/>
            <a:ext cx="8640000" cy="3456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088000" y="14688000"/>
            <a:ext cx="8856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門檻與實機韌體同步：進高峰＝基線+300ppm・遲滯退場＝+200・前饋 θ=120 ppm/min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728000" y="16056000"/>
            <a:ext cx="9576000" cy="23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728000" y="16056000"/>
            <a:ext cx="144000" cy="2304000"/>
          </a:xfrm>
          <a:prstGeom prst="rect">
            <a:avLst/>
          </a:prstGeom>
          <a:solidFill>
            <a:srgbClr val="9E3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60000" y="16344000"/>
            <a:ext cx="8712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核心智慧：CO₂ 前饋削峰</a:t>
            </a:r>
          </a:p>
          <a:p>
            <a:pPr algn="l">
              <a:lnSpc>
                <a:spcPct val="112000"/>
              </a:lnSpc>
              <a:spcAft>
                <a:spcPts val="910"/>
              </a:spcAft>
            </a:pPr>
            <a:r>
              <a:rPr sz="26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CO₂ 由人群呼出、先於插香高峰數分鐘上升——人潮還沒插香，抽排已經在加速。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000" y="21456000"/>
            <a:ext cx="19224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539"/>
              </a:spcAft>
            </a:pPr>
            <a:r>
              <a:rPr sz="4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五級故障安全階梯——每一層都往「安全」的方向倒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0000" y="22248000"/>
            <a:ext cx="5760000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68000" y="22248000"/>
            <a:ext cx="540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雲端／網路斷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72000" y="22248000"/>
            <a:ext cx="13032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44"/>
              </a:spcAft>
            </a:pPr>
            <a:r>
              <a:rPr sz="2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本地續跑；QoS1 佇列積壓，回線自動補傳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0000" y="23328000"/>
            <a:ext cx="5760000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68000" y="23328000"/>
            <a:ext cx="540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Pi 決策層失效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2000" y="23328000"/>
            <a:ext cx="13032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44"/>
              </a:spcAft>
            </a:pPr>
            <a:r>
              <a:rPr sz="2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控制器 5 秒逾時進 FALLBACK，本地 FSM 用真實 CO₂ 續跑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0000" y="24408000"/>
            <a:ext cx="5760000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68000" y="24408000"/>
            <a:ext cx="540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感測器失效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72000" y="24408000"/>
            <a:ext cx="13032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44"/>
              </a:spcAft>
            </a:pPr>
            <a:r>
              <a:rPr sz="2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回報 -99.9 誠實故障值＋旗標，安全態優先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80000" y="25488000"/>
            <a:ext cx="5760000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68000" y="25488000"/>
            <a:ext cx="540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超溫／熱電偶開路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72000" y="25488000"/>
            <a:ext cx="13032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44"/>
              </a:spcAft>
            </a:pPr>
            <a:r>
              <a:rPr sz="2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就地聯鎖直接拉低 PWM 腳——風扇強制歸零，無軟體介入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0000" y="26568000"/>
            <a:ext cx="5760000" cy="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68000" y="26568000"/>
            <a:ext cx="5400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全系統斷電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2000" y="26568000"/>
            <a:ext cx="13032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44"/>
              </a:spcAft>
            </a:pPr>
            <a:r>
              <a:rPr sz="2700" b="0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香爐回復傳統使用——故障模式天然安全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29268000"/>
            <a:ext cx="21384000" cy="1008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0000" y="29412000"/>
            <a:ext cx="17064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BDB8AF"/>
                </a:solidFill>
                <a:latin typeface="微軟正黑體"/>
                <a:ea typeface="微軟正黑體"/>
                <a:cs typeface="微軟正黑體"/>
              </a:rPr>
              <a:t>智慧香爐｜有拜有包庇（高中職組）｜李承鴻・曾翊軒｜指導：倪瑞鴻・高若瑋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44000" y="29412000"/>
            <a:ext cx="2160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10"/>
              </a:spcAft>
            </a:pPr>
            <a:r>
              <a:rPr sz="2600" b="1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系統　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F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864000"/>
            <a:ext cx="19224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50"/>
              </a:spcAft>
            </a:pPr>
            <a:r>
              <a:rPr sz="30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TRACTION &amp;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296000"/>
            <a:ext cx="19224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79"/>
              </a:spcAft>
            </a:pPr>
            <a:r>
              <a:rPr sz="88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不是簡報做得好，是系統真的在跑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0000" y="2664000"/>
            <a:ext cx="2520000" cy="93600"/>
          </a:xfrm>
          <a:prstGeom prst="rect">
            <a:avLst/>
          </a:prstGeom>
          <a:solidFill>
            <a:srgbClr val="4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744000" y="2664000"/>
            <a:ext cx="16560000" cy="28800"/>
          </a:xfrm>
          <a:prstGeom prst="rect">
            <a:avLst/>
          </a:prstGeom>
          <a:solidFill>
            <a:srgbClr val="ECE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880000"/>
            <a:ext cx="19224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20"/>
              </a:spcAft>
            </a:pPr>
            <a:r>
              <a:rPr sz="32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已上線的實機資料鏈 × 中小廟宇負擔得起的商業模式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3600000"/>
            <a:ext cx="6120000" cy="4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4032000"/>
            <a:ext cx="612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359"/>
              </a:spcAft>
            </a:pPr>
            <a:r>
              <a:rPr sz="96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2026-08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5832000"/>
            <a:ext cx="5544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155"/>
              </a:spcAft>
            </a:pPr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原型實機上線</a:t>
            </a:r>
          </a:p>
          <a:p>
            <a:pPr algn="ctr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熱點自動上雲・斷線補傳
比賽現場模式演練通過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2000" y="3600000"/>
            <a:ext cx="6120000" cy="4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2000" y="4032000"/>
            <a:ext cx="612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359"/>
              </a:spcAft>
            </a:pPr>
            <a:r>
              <a:rPr sz="96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12 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5832000"/>
            <a:ext cx="5544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155"/>
              </a:spcAft>
            </a:pPr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雲端中心站驗收全過</a:t>
            </a:r>
          </a:p>
          <a:p>
            <a:pPr algn="ctr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免帳密公開唯讀儀表板 ×3
評審隨時可看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84000" y="3600000"/>
            <a:ext cx="6120000" cy="4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84000" y="4032000"/>
            <a:ext cx="6120000" cy="15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359"/>
              </a:spcAft>
            </a:pPr>
            <a:r>
              <a:rPr sz="96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29 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2000" y="5832000"/>
            <a:ext cx="5544000" cy="16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1155"/>
              </a:spcAft>
            </a:pPr>
            <a:r>
              <a:rPr sz="33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自動化設計規則</a:t>
            </a:r>
          </a:p>
          <a:p>
            <a:pPr algn="ctr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機構／電路／韌體／雲端
跨層自檢・改一處全鏈重驗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0000" y="8136000"/>
            <a:ext cx="19224000" cy="3456000"/>
          </a:xfrm>
          <a:prstGeom prst="roundRect">
            <a:avLst>
              <a:gd name="adj" fmla="val 4000"/>
            </a:avLst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qr_fleet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00" y="8496000"/>
            <a:ext cx="2736000" cy="273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752000" y="8712000"/>
            <a:ext cx="14904000" cy="23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679"/>
              </a:spcAft>
            </a:pPr>
            <a:r>
              <a:rPr sz="4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掃碼即看：機隊即時面板（公開唯讀・免帳密）</a:t>
            </a:r>
          </a:p>
          <a:p>
            <a:pPr algn="l">
              <a:lnSpc>
                <a:spcPct val="112000"/>
              </a:lnSpc>
              <a:spcAft>
                <a:spcPts val="1050"/>
              </a:spcAft>
            </a:pPr>
            <a:r>
              <a:rPr sz="3000" b="0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真實感測資料每秒入庫；程式碼與資料集開放，結論可重現——這面牆上的每一項都能當場驗證。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0000" y="12096000"/>
            <a:ext cx="9360000" cy="75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00" y="12960000"/>
            <a:ext cx="8784000" cy="55341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40000" y="12312000"/>
            <a:ext cx="86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20"/>
              </a:spcAft>
            </a:pPr>
            <a:r>
              <a:rPr sz="32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十年總持有成本（TCO）對比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44000" y="12096000"/>
            <a:ext cx="9360000" cy="756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04000" y="12312000"/>
            <a:ext cx="864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20"/>
              </a:spcAft>
            </a:pPr>
            <a:r>
              <a:rPr sz="32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四維能力：唯一無短板的方案</a:t>
            </a:r>
          </a:p>
        </p:txBody>
      </p:sp>
      <p:pic>
        <p:nvPicPr>
          <p:cNvPr id="25" name="Picture 24" descr="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2000" y="12960000"/>
            <a:ext cx="7643440" cy="64080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0000" y="20016000"/>
            <a:ext cx="19224000" cy="237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84000" y="20232000"/>
            <a:ext cx="6840000" cy="19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550"/>
              </a:spcAft>
            </a:pPr>
            <a:r>
              <a:rPr sz="13000" b="1">
                <a:solidFill>
                  <a:srgbClr val="9E3B2F"/>
                </a:solidFill>
                <a:latin typeface="微軟正黑體"/>
                <a:ea typeface="微軟正黑體"/>
                <a:cs typeface="微軟正黑體"/>
              </a:rPr>
              <a:t>−87%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0000" y="20448000"/>
            <a:ext cx="11160000" cy="17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40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十年成本只要碳中和金爐的約 1/8</a:t>
            </a:r>
          </a:p>
          <a:p>
            <a:pPr algn="l">
              <a:lnSpc>
                <a:spcPct val="112000"/>
              </a:lnSpc>
              <a:spcAft>
                <a:spcPts val="979"/>
              </a:spcAft>
            </a:pPr>
            <a:r>
              <a:rPr sz="28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設備＋年度訂閱制：收入與廟宇空品綁定，誘因完全對齊（概念階段估算）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0000" y="22824000"/>
            <a:ext cx="19224000" cy="34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4105" y="23112000"/>
            <a:ext cx="5835789" cy="28800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80000" y="26712000"/>
            <a:ext cx="6120000" cy="15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40000" y="26928000"/>
            <a:ext cx="864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820"/>
              </a:spcAft>
            </a:pPr>
            <a:r>
              <a:rPr sz="52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48000" y="26928000"/>
            <a:ext cx="439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示範試點</a:t>
            </a:r>
          </a:p>
          <a:p>
            <a:pPr algn="l">
              <a:lnSpc>
                <a:spcPct val="112000"/>
              </a:lnSpc>
              <a:spcAft>
                <a:spcPts val="804"/>
              </a:spcAft>
            </a:pPr>
            <a:r>
              <a:rPr sz="23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一座合作廟宇・公開實測數據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2000" y="26712000"/>
            <a:ext cx="6120000" cy="15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2000" y="26928000"/>
            <a:ext cx="864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820"/>
              </a:spcAft>
            </a:pPr>
            <a:r>
              <a:rPr sz="52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0000" y="26928000"/>
            <a:ext cx="439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口碑擴散</a:t>
            </a:r>
          </a:p>
          <a:p>
            <a:pPr algn="l">
              <a:lnSpc>
                <a:spcPct val="112000"/>
              </a:lnSpc>
              <a:spcAft>
                <a:spcPts val="804"/>
              </a:spcAft>
            </a:pPr>
            <a:r>
              <a:rPr sz="23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聯誼會通路・首批付費導入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84000" y="26712000"/>
            <a:ext cx="6120000" cy="158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544000" y="26928000"/>
            <a:ext cx="864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820"/>
              </a:spcAft>
            </a:pPr>
            <a:r>
              <a:rPr sz="5200" b="1">
                <a:solidFill>
                  <a:srgbClr val="C9A227"/>
                </a:solidFill>
                <a:latin typeface="微軟正黑體"/>
                <a:ea typeface="微軟正黑體"/>
                <a:cs typeface="微軟正黑體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52000" y="26928000"/>
            <a:ext cx="4392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89"/>
              </a:spcAft>
            </a:pPr>
            <a:r>
              <a:rPr sz="3400" b="1">
                <a:solidFill>
                  <a:srgbClr val="33302B"/>
                </a:solidFill>
                <a:latin typeface="微軟正黑體"/>
                <a:ea typeface="微軟正黑體"/>
                <a:cs typeface="微軟正黑體"/>
              </a:rPr>
              <a:t>跨域移植</a:t>
            </a:r>
          </a:p>
          <a:p>
            <a:pPr algn="l">
              <a:lnSpc>
                <a:spcPct val="112000"/>
              </a:lnSpc>
              <a:spcAft>
                <a:spcPts val="804"/>
              </a:spcAft>
            </a:pPr>
            <a:r>
              <a:rPr sz="2300" b="0">
                <a:solidFill>
                  <a:srgbClr val="8A8377"/>
                </a:solidFill>
                <a:latin typeface="微軟正黑體"/>
                <a:ea typeface="微軟正黑體"/>
                <a:cs typeface="微軟正黑體"/>
              </a:rPr>
              <a:t>餐飲油煙・密閉空品市場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29268000"/>
            <a:ext cx="21384000" cy="1008000"/>
          </a:xfrm>
          <a:prstGeom prst="rect">
            <a:avLst/>
          </a:prstGeom>
          <a:solidFill>
            <a:srgbClr val="2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0000" y="29412000"/>
            <a:ext cx="17064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39"/>
              </a:spcAft>
            </a:pPr>
            <a:r>
              <a:rPr sz="2400" b="0">
                <a:solidFill>
                  <a:srgbClr val="BDB8AF"/>
                </a:solidFill>
                <a:latin typeface="微軟正黑體"/>
                <a:ea typeface="微軟正黑體"/>
                <a:cs typeface="微軟正黑體"/>
              </a:rPr>
              <a:t>智慧香爐｜有拜有包庇（高中職組）｜李承鴻・曾翊軒｜指導：倪瑞鴻・高若瑋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44000" y="29412000"/>
            <a:ext cx="21600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910"/>
              </a:spcAft>
            </a:pPr>
            <a:r>
              <a:rPr sz="2600" b="1">
                <a:solidFill>
                  <a:srgbClr val="E3C567"/>
                </a:solidFill>
                <a:latin typeface="微軟正黑體"/>
                <a:ea typeface="微軟正黑體"/>
                <a:cs typeface="微軟正黑體"/>
              </a:rPr>
              <a:t>成果　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