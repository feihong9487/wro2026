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ns Bold" charset="1" panose="00000000000000000000"/>
      <p:regular r:id="rId16"/>
    </p:embeddedFont>
    <p:embeddedFont>
      <p:font typeface="Poppins Light" charset="1" panose="00000400000000000000"/>
      <p:regular r:id="rId17"/>
    </p:embeddedFont>
    <p:embeddedFont>
      <p:font typeface="Poppins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jpe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jpeg" Type="http://schemas.openxmlformats.org/officeDocument/2006/relationships/image"/><Relationship Id="rId9" Target="../media/image1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jpe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jpeg" Type="http://schemas.openxmlformats.org/officeDocument/2006/relationships/image"/><Relationship Id="rId9" Target="../media/image2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3.png" Type="http://schemas.openxmlformats.org/officeDocument/2006/relationships/image"/><Relationship Id="rId6" Target="../media/image5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2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13977" y="-464261"/>
            <a:ext cx="7174023" cy="10751261"/>
          </a:xfrm>
          <a:custGeom>
            <a:avLst/>
            <a:gdLst/>
            <a:ahLst/>
            <a:cxnLst/>
            <a:rect r="r" b="b" t="t" l="l"/>
            <a:pathLst>
              <a:path h="10751261" w="7174023">
                <a:moveTo>
                  <a:pt x="0" y="0"/>
                </a:moveTo>
                <a:lnTo>
                  <a:pt x="7174023" y="0"/>
                </a:lnTo>
                <a:lnTo>
                  <a:pt x="7174023" y="10751261"/>
                </a:lnTo>
                <a:lnTo>
                  <a:pt x="0" y="107512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0"/>
            <a:ext cx="7174023" cy="10519130"/>
          </a:xfrm>
          <a:custGeom>
            <a:avLst/>
            <a:gdLst/>
            <a:ahLst/>
            <a:cxnLst/>
            <a:rect r="r" b="b" t="t" l="l"/>
            <a:pathLst>
              <a:path h="10519130" w="7174023">
                <a:moveTo>
                  <a:pt x="7174023" y="0"/>
                </a:moveTo>
                <a:lnTo>
                  <a:pt x="0" y="0"/>
                </a:lnTo>
                <a:lnTo>
                  <a:pt x="0" y="10519130"/>
                </a:lnTo>
                <a:lnTo>
                  <a:pt x="7174023" y="10519130"/>
                </a:lnTo>
                <a:lnTo>
                  <a:pt x="7174023" y="0"/>
                </a:lnTo>
                <a:close/>
              </a:path>
            </a:pathLst>
          </a:custGeom>
          <a:blipFill>
            <a:blip r:embed="rId2"/>
            <a:stretch>
              <a:fillRect l="0" t="-2206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7274113" y="7937545"/>
            <a:ext cx="3739773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4334776" y="0"/>
            <a:ext cx="1099774" cy="4114800"/>
          </a:xfrm>
          <a:custGeom>
            <a:avLst/>
            <a:gdLst/>
            <a:ahLst/>
            <a:cxnLst/>
            <a:rect r="r" b="b" t="t" l="l"/>
            <a:pathLst>
              <a:path h="4114800" w="1099774">
                <a:moveTo>
                  <a:pt x="0" y="0"/>
                </a:moveTo>
                <a:lnTo>
                  <a:pt x="1099774" y="0"/>
                </a:lnTo>
                <a:lnTo>
                  <a:pt x="10997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39358" y="0"/>
            <a:ext cx="1099774" cy="4114800"/>
          </a:xfrm>
          <a:custGeom>
            <a:avLst/>
            <a:gdLst/>
            <a:ahLst/>
            <a:cxnLst/>
            <a:rect r="r" b="b" t="t" l="l"/>
            <a:pathLst>
              <a:path h="4114800" w="1099774">
                <a:moveTo>
                  <a:pt x="0" y="0"/>
                </a:moveTo>
                <a:lnTo>
                  <a:pt x="1099773" y="0"/>
                </a:lnTo>
                <a:lnTo>
                  <a:pt x="10997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96404" y="3553219"/>
            <a:ext cx="9095192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39"/>
              </a:lnSpc>
              <a:spcBef>
                <a:spcPct val="0"/>
              </a:spcBef>
            </a:pPr>
            <a:r>
              <a:rPr lang="en-US" b="true" sz="7199" strike="noStrike" u="none">
                <a:solidFill>
                  <a:srgbClr val="1C1C1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智慧香爐</a:t>
            </a:r>
          </a:p>
          <a:p>
            <a:pPr algn="ctr" marL="0" indent="0" lvl="0">
              <a:lnSpc>
                <a:spcPts val="8639"/>
              </a:lnSpc>
              <a:spcBef>
                <a:spcPct val="0"/>
              </a:spcBef>
            </a:pPr>
            <a:r>
              <a:rPr lang="en-US" b="true" sz="7199" strike="noStrike" u="none">
                <a:solidFill>
                  <a:srgbClr val="1C1C1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香照燒，煙不見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74113" y="1036134"/>
            <a:ext cx="3750536" cy="1244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7"/>
              </a:lnSpc>
              <a:spcBef>
                <a:spcPct val="0"/>
              </a:spcBef>
            </a:pPr>
            <a:r>
              <a:rPr lang="en-US" b="true" sz="2748" strike="noStrike" u="none">
                <a:solidFill>
                  <a:srgbClr val="1C1C1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WRO 2026 Future Innovators</a:t>
            </a:r>
          </a:p>
          <a:p>
            <a:pPr algn="ctr" marL="0" indent="0" lvl="0">
              <a:lnSpc>
                <a:spcPts val="3297"/>
              </a:lnSpc>
              <a:spcBef>
                <a:spcPct val="0"/>
              </a:spcBef>
            </a:pPr>
            <a:r>
              <a:rPr lang="en-US" b="true" sz="2748" strike="noStrike" u="none">
                <a:solidFill>
                  <a:srgbClr val="1C1C1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Robots Meet Culture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18429" y="6765017"/>
            <a:ext cx="6251143" cy="80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有拜有包庇｜高中職組</a:t>
            </a:r>
          </a:p>
          <a:p>
            <a:pPr algn="ctr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李承鴻・曾翊軒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18429" y="8178910"/>
            <a:ext cx="625114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指導：倪瑞鴻・高若瑋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2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0942" y="0"/>
            <a:ext cx="10369455" cy="10948466"/>
            <a:chOff x="0" y="0"/>
            <a:chExt cx="2731050" cy="28835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31050" cy="2883547"/>
            </a:xfrm>
            <a:custGeom>
              <a:avLst/>
              <a:gdLst/>
              <a:ahLst/>
              <a:cxnLst/>
              <a:rect r="r" b="b" t="t" l="l"/>
              <a:pathLst>
                <a:path h="2883547" w="2731050">
                  <a:moveTo>
                    <a:pt x="0" y="0"/>
                  </a:moveTo>
                  <a:lnTo>
                    <a:pt x="2731050" y="0"/>
                  </a:lnTo>
                  <a:lnTo>
                    <a:pt x="2731050" y="2883547"/>
                  </a:lnTo>
                  <a:lnTo>
                    <a:pt x="0" y="2883547"/>
                  </a:lnTo>
                  <a:close/>
                </a:path>
              </a:pathLst>
            </a:custGeom>
            <a:solidFill>
              <a:srgbClr val="CB7F6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731050" cy="3007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02638" y="423436"/>
            <a:ext cx="2879311" cy="2516657"/>
            <a:chOff x="0" y="0"/>
            <a:chExt cx="1193135" cy="10428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93135" cy="1042858"/>
            </a:xfrm>
            <a:custGeom>
              <a:avLst/>
              <a:gdLst/>
              <a:ahLst/>
              <a:cxnLst/>
              <a:rect r="r" b="b" t="t" l="l"/>
              <a:pathLst>
                <a:path h="1042858" w="1193135">
                  <a:moveTo>
                    <a:pt x="40332" y="0"/>
                  </a:moveTo>
                  <a:lnTo>
                    <a:pt x="1152803" y="0"/>
                  </a:lnTo>
                  <a:cubicBezTo>
                    <a:pt x="1175078" y="0"/>
                    <a:pt x="1193135" y="18057"/>
                    <a:pt x="1193135" y="40332"/>
                  </a:cubicBezTo>
                  <a:lnTo>
                    <a:pt x="1193135" y="1002526"/>
                  </a:lnTo>
                  <a:cubicBezTo>
                    <a:pt x="1193135" y="1013222"/>
                    <a:pt x="1188886" y="1023481"/>
                    <a:pt x="1181322" y="1031045"/>
                  </a:cubicBezTo>
                  <a:cubicBezTo>
                    <a:pt x="1173758" y="1038609"/>
                    <a:pt x="1163500" y="1042858"/>
                    <a:pt x="1152803" y="1042858"/>
                  </a:cubicBezTo>
                  <a:lnTo>
                    <a:pt x="40332" y="1042858"/>
                  </a:lnTo>
                  <a:cubicBezTo>
                    <a:pt x="29635" y="1042858"/>
                    <a:pt x="19377" y="1038609"/>
                    <a:pt x="11813" y="1031045"/>
                  </a:cubicBezTo>
                  <a:cubicBezTo>
                    <a:pt x="4249" y="1023481"/>
                    <a:pt x="0" y="1013222"/>
                    <a:pt x="0" y="1002526"/>
                  </a:cubicBezTo>
                  <a:lnTo>
                    <a:pt x="0" y="40332"/>
                  </a:lnTo>
                  <a:cubicBezTo>
                    <a:pt x="0" y="29635"/>
                    <a:pt x="4249" y="19377"/>
                    <a:pt x="11813" y="11813"/>
                  </a:cubicBezTo>
                  <a:cubicBezTo>
                    <a:pt x="19377" y="4249"/>
                    <a:pt x="29635" y="0"/>
                    <a:pt x="40332" y="0"/>
                  </a:cubicBezTo>
                  <a:close/>
                </a:path>
              </a:pathLst>
            </a:custGeom>
            <a:blipFill>
              <a:blip r:embed="rId2"/>
              <a:stretch>
                <a:fillRect l="-4225" t="0" r="-12314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1920870" y="7880073"/>
            <a:ext cx="7140707" cy="2583638"/>
          </a:xfrm>
          <a:custGeom>
            <a:avLst/>
            <a:gdLst/>
            <a:ahLst/>
            <a:cxnLst/>
            <a:rect r="r" b="b" t="t" l="l"/>
            <a:pathLst>
              <a:path h="2583638" w="7140707">
                <a:moveTo>
                  <a:pt x="0" y="0"/>
                </a:moveTo>
                <a:lnTo>
                  <a:pt x="7140707" y="0"/>
                </a:lnTo>
                <a:lnTo>
                  <a:pt x="7140707" y="2583638"/>
                </a:lnTo>
                <a:lnTo>
                  <a:pt x="0" y="2583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877424" y="2930568"/>
            <a:ext cx="6116450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  <a:spcBef>
                <a:spcPct val="0"/>
              </a:spcBef>
            </a:pPr>
            <a:r>
              <a:rPr lang="en-US" b="true" sz="5600" strike="noStrike" u="none">
                <a:solidFill>
                  <a:srgbClr val="1C1C1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一支香，讓殿內 PM2.5 逼近 1,360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709413" y="0"/>
            <a:ext cx="1099774" cy="4114800"/>
          </a:xfrm>
          <a:custGeom>
            <a:avLst/>
            <a:gdLst/>
            <a:ahLst/>
            <a:cxnLst/>
            <a:rect r="r" b="b" t="t" l="l"/>
            <a:pathLst>
              <a:path h="4114800" w="1099774">
                <a:moveTo>
                  <a:pt x="0" y="0"/>
                </a:moveTo>
                <a:lnTo>
                  <a:pt x="1099774" y="0"/>
                </a:lnTo>
                <a:lnTo>
                  <a:pt x="10997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6753236"/>
            <a:ext cx="1935731" cy="2505064"/>
          </a:xfrm>
          <a:custGeom>
            <a:avLst/>
            <a:gdLst/>
            <a:ahLst/>
            <a:cxnLst/>
            <a:rect r="r" b="b" t="t" l="l"/>
            <a:pathLst>
              <a:path h="2505064" w="1935731">
                <a:moveTo>
                  <a:pt x="0" y="0"/>
                </a:moveTo>
                <a:lnTo>
                  <a:pt x="1935731" y="0"/>
                </a:lnTo>
                <a:lnTo>
                  <a:pt x="1935731" y="2505064"/>
                </a:lnTo>
                <a:lnTo>
                  <a:pt x="0" y="25050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964431" y="3303085"/>
            <a:ext cx="6517518" cy="4342296"/>
          </a:xfrm>
          <a:custGeom>
            <a:avLst/>
            <a:gdLst/>
            <a:ahLst/>
            <a:cxnLst/>
            <a:rect r="r" b="b" t="t" l="l"/>
            <a:pathLst>
              <a:path h="4342296" w="6517518">
                <a:moveTo>
                  <a:pt x="0" y="0"/>
                </a:moveTo>
                <a:lnTo>
                  <a:pt x="6517518" y="0"/>
                </a:lnTo>
                <a:lnTo>
                  <a:pt x="6517518" y="4342296"/>
                </a:lnTo>
                <a:lnTo>
                  <a:pt x="0" y="43422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877424" y="5712417"/>
            <a:ext cx="5654371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780"/>
              </a:lnSpc>
              <a:buFont typeface="Arial"/>
              <a:buChar char="•"/>
            </a:pPr>
            <a:r>
              <a:rPr lang="en-US" b="true" sz="2100" strike="noStrike" u="non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1,360 µg/m³ 峰值｜約為戶外 50 倍</a:t>
            </a:r>
          </a:p>
          <a:p>
            <a:pPr algn="l" marL="453390" indent="-226695" lvl="1">
              <a:lnSpc>
                <a:spcPts val="3780"/>
              </a:lnSpc>
              <a:buFont typeface="Arial"/>
              <a:buChar char="•"/>
            </a:pPr>
            <a:r>
              <a:rPr lang="en-US" b="true" sz="2100" strike="noStrike" u="non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97.0 ± 65.4 µg/m³ 平均</a:t>
            </a:r>
          </a:p>
          <a:p>
            <a:pPr algn="l" marL="453390" indent="-226695" lvl="1">
              <a:lnSpc>
                <a:spcPts val="3780"/>
              </a:lnSpc>
              <a:buFont typeface="Arial"/>
              <a:buChar char="•"/>
            </a:pPr>
            <a:r>
              <a:rPr lang="en-US" b="true" sz="2100" strike="noStrike" u="non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呼吸道鱗狀細胞癌風險 1.8 倍</a:t>
            </a:r>
          </a:p>
          <a:p>
            <a:pPr algn="l" marL="453390" indent="-226695" lvl="1">
              <a:lnSpc>
                <a:spcPts val="3780"/>
              </a:lnSpc>
              <a:buFont typeface="Arial"/>
              <a:buChar char="•"/>
            </a:pPr>
            <a:r>
              <a:rPr lang="en-US" b="true" sz="2100" strike="noStrike" u="non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印度教＋佛教信眾逾 17 億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2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1916" y="6341704"/>
            <a:ext cx="18678666" cy="4285528"/>
            <a:chOff x="0" y="0"/>
            <a:chExt cx="4919484" cy="11286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9484" cy="1128699"/>
            </a:xfrm>
            <a:custGeom>
              <a:avLst/>
              <a:gdLst/>
              <a:ahLst/>
              <a:cxnLst/>
              <a:rect r="r" b="b" t="t" l="l"/>
              <a:pathLst>
                <a:path h="1128699" w="4919484">
                  <a:moveTo>
                    <a:pt x="0" y="0"/>
                  </a:moveTo>
                  <a:lnTo>
                    <a:pt x="4919484" y="0"/>
                  </a:lnTo>
                  <a:lnTo>
                    <a:pt x="4919484" y="1128699"/>
                  </a:lnTo>
                  <a:lnTo>
                    <a:pt x="0" y="1128699"/>
                  </a:lnTo>
                  <a:close/>
                </a:path>
              </a:pathLst>
            </a:custGeom>
            <a:solidFill>
              <a:srgbClr val="CB7F6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4919484" cy="1252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91193" y="6172200"/>
            <a:ext cx="2536213" cy="4114800"/>
          </a:xfrm>
          <a:custGeom>
            <a:avLst/>
            <a:gdLst/>
            <a:ahLst/>
            <a:cxnLst/>
            <a:rect r="r" b="b" t="t" l="l"/>
            <a:pathLst>
              <a:path h="4114800" w="2536213">
                <a:moveTo>
                  <a:pt x="0" y="0"/>
                </a:moveTo>
                <a:lnTo>
                  <a:pt x="2536214" y="0"/>
                </a:lnTo>
                <a:lnTo>
                  <a:pt x="25362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9088" y="6954663"/>
            <a:ext cx="898312" cy="898312"/>
          </a:xfrm>
          <a:custGeom>
            <a:avLst/>
            <a:gdLst/>
            <a:ahLst/>
            <a:cxnLst/>
            <a:rect r="r" b="b" t="t" l="l"/>
            <a:pathLst>
              <a:path h="898312" w="898312">
                <a:moveTo>
                  <a:pt x="0" y="0"/>
                </a:moveTo>
                <a:lnTo>
                  <a:pt x="898312" y="0"/>
                </a:lnTo>
                <a:lnTo>
                  <a:pt x="898312" y="898312"/>
                </a:lnTo>
                <a:lnTo>
                  <a:pt x="0" y="898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15761" y="6954663"/>
            <a:ext cx="898312" cy="898312"/>
          </a:xfrm>
          <a:custGeom>
            <a:avLst/>
            <a:gdLst/>
            <a:ahLst/>
            <a:cxnLst/>
            <a:rect r="r" b="b" t="t" l="l"/>
            <a:pathLst>
              <a:path h="898312" w="898312">
                <a:moveTo>
                  <a:pt x="0" y="0"/>
                </a:moveTo>
                <a:lnTo>
                  <a:pt x="898312" y="0"/>
                </a:lnTo>
                <a:lnTo>
                  <a:pt x="898312" y="898312"/>
                </a:lnTo>
                <a:lnTo>
                  <a:pt x="0" y="898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90747" y="6954663"/>
            <a:ext cx="898312" cy="898312"/>
          </a:xfrm>
          <a:custGeom>
            <a:avLst/>
            <a:gdLst/>
            <a:ahLst/>
            <a:cxnLst/>
            <a:rect r="r" b="b" t="t" l="l"/>
            <a:pathLst>
              <a:path h="898312" w="898312">
                <a:moveTo>
                  <a:pt x="0" y="0"/>
                </a:moveTo>
                <a:lnTo>
                  <a:pt x="898312" y="0"/>
                </a:lnTo>
                <a:lnTo>
                  <a:pt x="898312" y="898312"/>
                </a:lnTo>
                <a:lnTo>
                  <a:pt x="0" y="898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689284" y="6954663"/>
            <a:ext cx="898312" cy="898312"/>
          </a:xfrm>
          <a:custGeom>
            <a:avLst/>
            <a:gdLst/>
            <a:ahLst/>
            <a:cxnLst/>
            <a:rect r="r" b="b" t="t" l="l"/>
            <a:pathLst>
              <a:path h="898312" w="898312">
                <a:moveTo>
                  <a:pt x="0" y="0"/>
                </a:moveTo>
                <a:lnTo>
                  <a:pt x="898312" y="0"/>
                </a:lnTo>
                <a:lnTo>
                  <a:pt x="898312" y="898312"/>
                </a:lnTo>
                <a:lnTo>
                  <a:pt x="0" y="898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03176" y="4958910"/>
            <a:ext cx="3821795" cy="1382795"/>
          </a:xfrm>
          <a:custGeom>
            <a:avLst/>
            <a:gdLst/>
            <a:ahLst/>
            <a:cxnLst/>
            <a:rect r="r" b="b" t="t" l="l"/>
            <a:pathLst>
              <a:path h="1382795" w="3821795">
                <a:moveTo>
                  <a:pt x="0" y="0"/>
                </a:moveTo>
                <a:lnTo>
                  <a:pt x="3821795" y="0"/>
                </a:lnTo>
                <a:lnTo>
                  <a:pt x="3821795" y="1382794"/>
                </a:lnTo>
                <a:lnTo>
                  <a:pt x="0" y="13827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725577" y="651335"/>
            <a:ext cx="10246659" cy="3898000"/>
          </a:xfrm>
          <a:custGeom>
            <a:avLst/>
            <a:gdLst/>
            <a:ahLst/>
            <a:cxnLst/>
            <a:rect r="r" b="b" t="t" l="l"/>
            <a:pathLst>
              <a:path h="3898000" w="10246659">
                <a:moveTo>
                  <a:pt x="0" y="0"/>
                </a:moveTo>
                <a:lnTo>
                  <a:pt x="10246659" y="0"/>
                </a:lnTo>
                <a:lnTo>
                  <a:pt x="10246659" y="3898000"/>
                </a:lnTo>
                <a:lnTo>
                  <a:pt x="0" y="3898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490747" y="7981548"/>
            <a:ext cx="4063094" cy="160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C1C1C"/>
                </a:solidFill>
                <a:latin typeface="Poppins Light"/>
                <a:ea typeface="Poppins Light"/>
                <a:cs typeface="Poppins Light"/>
                <a:sym typeface="Poppins Light"/>
              </a:rPr>
              <a:t>生計｜</a:t>
            </a:r>
          </a:p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C1C1C"/>
                </a:solidFill>
                <a:latin typeface="Poppins Light"/>
                <a:ea typeface="Poppins Light"/>
                <a:cs typeface="Poppins Light"/>
                <a:sym typeface="Poppins Light"/>
              </a:rPr>
              <a:t>印度手工捲香 40–200 萬人，約八成女性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170109" y="6755604"/>
            <a:ext cx="1678798" cy="1673055"/>
            <a:chOff x="0" y="0"/>
            <a:chExt cx="4323592" cy="43088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23592" cy="4308801"/>
            </a:xfrm>
            <a:custGeom>
              <a:avLst/>
              <a:gdLst/>
              <a:ahLst/>
              <a:cxnLst/>
              <a:rect r="r" b="b" t="t" l="l"/>
              <a:pathLst>
                <a:path h="4308801" w="4323592">
                  <a:moveTo>
                    <a:pt x="69174" y="0"/>
                  </a:moveTo>
                  <a:lnTo>
                    <a:pt x="4254418" y="0"/>
                  </a:lnTo>
                  <a:cubicBezTo>
                    <a:pt x="4272764" y="0"/>
                    <a:pt x="4290358" y="7288"/>
                    <a:pt x="4303331" y="20261"/>
                  </a:cubicBezTo>
                  <a:cubicBezTo>
                    <a:pt x="4316304" y="33233"/>
                    <a:pt x="4323592" y="50828"/>
                    <a:pt x="4323592" y="69174"/>
                  </a:cubicBezTo>
                  <a:lnTo>
                    <a:pt x="4323592" y="4239627"/>
                  </a:lnTo>
                  <a:cubicBezTo>
                    <a:pt x="4323592" y="4257973"/>
                    <a:pt x="4316304" y="4275568"/>
                    <a:pt x="4303331" y="4288541"/>
                  </a:cubicBezTo>
                  <a:cubicBezTo>
                    <a:pt x="4290358" y="4301513"/>
                    <a:pt x="4272764" y="4308801"/>
                    <a:pt x="4254418" y="4308801"/>
                  </a:cubicBezTo>
                  <a:lnTo>
                    <a:pt x="69174" y="4308801"/>
                  </a:lnTo>
                  <a:cubicBezTo>
                    <a:pt x="50828" y="4308801"/>
                    <a:pt x="33233" y="4301513"/>
                    <a:pt x="20261" y="4288541"/>
                  </a:cubicBezTo>
                  <a:cubicBezTo>
                    <a:pt x="7288" y="4275568"/>
                    <a:pt x="0" y="4257973"/>
                    <a:pt x="0" y="4239627"/>
                  </a:cubicBezTo>
                  <a:lnTo>
                    <a:pt x="0" y="69174"/>
                  </a:lnTo>
                  <a:cubicBezTo>
                    <a:pt x="0" y="50828"/>
                    <a:pt x="7288" y="33233"/>
                    <a:pt x="20261" y="20261"/>
                  </a:cubicBezTo>
                  <a:cubicBezTo>
                    <a:pt x="33233" y="7288"/>
                    <a:pt x="50828" y="0"/>
                    <a:pt x="69174" y="0"/>
                  </a:cubicBezTo>
                  <a:close/>
                </a:path>
              </a:pathLst>
            </a:custGeom>
            <a:blipFill>
              <a:blip r:embed="rId9"/>
              <a:stretch>
                <a:fillRect l="-19206" t="0" r="-19206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2272369" y="6820523"/>
            <a:ext cx="1543217" cy="1543217"/>
          </a:xfrm>
          <a:custGeom>
            <a:avLst/>
            <a:gdLst/>
            <a:ahLst/>
            <a:cxnLst/>
            <a:rect r="r" b="b" t="t" l="l"/>
            <a:pathLst>
              <a:path h="1543217" w="1543217">
                <a:moveTo>
                  <a:pt x="0" y="0"/>
                </a:moveTo>
                <a:lnTo>
                  <a:pt x="1543217" y="0"/>
                </a:lnTo>
                <a:lnTo>
                  <a:pt x="1543217" y="1543217"/>
                </a:lnTo>
                <a:lnTo>
                  <a:pt x="0" y="154321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1454729"/>
            <a:ext cx="6378575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  <a:spcBef>
                <a:spcPct val="0"/>
              </a:spcBef>
            </a:pPr>
            <a:r>
              <a:rPr lang="en-US" b="true" sz="5600" strike="noStrike" u="none">
                <a:solidFill>
                  <a:srgbClr val="1C1C1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禁香解決污染，卻犧牲信仰與生計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4133" y="7981548"/>
            <a:ext cx="3804584" cy="106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C1C1C"/>
                </a:solidFill>
                <a:latin typeface="Poppins Light"/>
                <a:ea typeface="Poppins Light"/>
                <a:cs typeface="Poppins Light"/>
                <a:sym typeface="Poppins Light"/>
              </a:rPr>
              <a:t>健康｜</a:t>
            </a:r>
          </a:p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C1C1C"/>
                </a:solidFill>
                <a:latin typeface="Poppins Light"/>
                <a:ea typeface="Poppins Light"/>
                <a:cs typeface="Poppins Light"/>
                <a:sym typeface="Poppins Light"/>
              </a:rPr>
              <a:t>SDGs 與法規壓力只增不減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15761" y="7981548"/>
            <a:ext cx="3439628" cy="106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C1C1C"/>
                </a:solidFill>
                <a:latin typeface="Poppins Light"/>
                <a:ea typeface="Poppins Light"/>
                <a:cs typeface="Poppins Light"/>
                <a:sym typeface="Poppins Light"/>
              </a:rPr>
              <a:t>信仰｜</a:t>
            </a:r>
          </a:p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C1C1C"/>
                </a:solidFill>
                <a:latin typeface="Poppins Light"/>
                <a:ea typeface="Poppins Light"/>
                <a:cs typeface="Poppins Light"/>
                <a:sym typeface="Poppins Light"/>
              </a:rPr>
              <a:t>2017 台灣逾 1 萬人上街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9088" y="3115883"/>
            <a:ext cx="5906506" cy="470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禁香不只是環保決策，也會碰到文化與生計。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89284" y="7981548"/>
            <a:ext cx="3439628" cy="106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C1C1C"/>
                </a:solidFill>
                <a:latin typeface="Poppins Light"/>
                <a:ea typeface="Poppins Light"/>
                <a:cs typeface="Poppins Light"/>
                <a:sym typeface="Poppins Light"/>
              </a:rPr>
              <a:t>結論｜</a:t>
            </a:r>
          </a:p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C1C1C"/>
                </a:solidFill>
                <a:latin typeface="Poppins Light"/>
                <a:ea typeface="Poppins Light"/>
                <a:cs typeface="Poppins Light"/>
                <a:sym typeface="Poppins Light"/>
              </a:rPr>
              <a:t>不接受健康與信仰二選一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2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1870" y="0"/>
            <a:ext cx="11859763" cy="11764397"/>
            <a:chOff x="0" y="0"/>
            <a:chExt cx="3123559" cy="30984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23559" cy="3098442"/>
            </a:xfrm>
            <a:custGeom>
              <a:avLst/>
              <a:gdLst/>
              <a:ahLst/>
              <a:cxnLst/>
              <a:rect r="r" b="b" t="t" l="l"/>
              <a:pathLst>
                <a:path h="3098442" w="3123559">
                  <a:moveTo>
                    <a:pt x="0" y="0"/>
                  </a:moveTo>
                  <a:lnTo>
                    <a:pt x="3123559" y="0"/>
                  </a:lnTo>
                  <a:lnTo>
                    <a:pt x="3123559" y="3098442"/>
                  </a:lnTo>
                  <a:lnTo>
                    <a:pt x="0" y="3098442"/>
                  </a:lnTo>
                  <a:close/>
                </a:path>
              </a:pathLst>
            </a:custGeom>
            <a:solidFill>
              <a:srgbClr val="CB7F6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3123559" cy="3222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937892" y="7458839"/>
            <a:ext cx="2833103" cy="2985070"/>
          </a:xfrm>
          <a:custGeom>
            <a:avLst/>
            <a:gdLst/>
            <a:ahLst/>
            <a:cxnLst/>
            <a:rect r="r" b="b" t="t" l="l"/>
            <a:pathLst>
              <a:path h="2985070" w="2833103">
                <a:moveTo>
                  <a:pt x="0" y="0"/>
                </a:moveTo>
                <a:lnTo>
                  <a:pt x="2833104" y="0"/>
                </a:lnTo>
                <a:lnTo>
                  <a:pt x="2833104" y="2985070"/>
                </a:lnTo>
                <a:lnTo>
                  <a:pt x="0" y="2985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54147" y="1129224"/>
            <a:ext cx="2799595" cy="1369257"/>
          </a:xfrm>
          <a:custGeom>
            <a:avLst/>
            <a:gdLst/>
            <a:ahLst/>
            <a:cxnLst/>
            <a:rect r="r" b="b" t="t" l="l"/>
            <a:pathLst>
              <a:path h="1369257" w="2799595">
                <a:moveTo>
                  <a:pt x="0" y="0"/>
                </a:moveTo>
                <a:lnTo>
                  <a:pt x="2799595" y="0"/>
                </a:lnTo>
                <a:lnTo>
                  <a:pt x="2799595" y="1369257"/>
                </a:lnTo>
                <a:lnTo>
                  <a:pt x="0" y="136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915185">
            <a:off x="3343136" y="565725"/>
            <a:ext cx="1893206" cy="925950"/>
          </a:xfrm>
          <a:custGeom>
            <a:avLst/>
            <a:gdLst/>
            <a:ahLst/>
            <a:cxnLst/>
            <a:rect r="r" b="b" t="t" l="l"/>
            <a:pathLst>
              <a:path h="925950" w="1893206">
                <a:moveTo>
                  <a:pt x="0" y="0"/>
                </a:moveTo>
                <a:lnTo>
                  <a:pt x="1893206" y="0"/>
                </a:lnTo>
                <a:lnTo>
                  <a:pt x="1893206" y="925950"/>
                </a:lnTo>
                <a:lnTo>
                  <a:pt x="0" y="925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635277">
            <a:off x="355204" y="257999"/>
            <a:ext cx="2334205" cy="1141638"/>
          </a:xfrm>
          <a:custGeom>
            <a:avLst/>
            <a:gdLst/>
            <a:ahLst/>
            <a:cxnLst/>
            <a:rect r="r" b="b" t="t" l="l"/>
            <a:pathLst>
              <a:path h="1141638" w="2334205">
                <a:moveTo>
                  <a:pt x="0" y="0"/>
                </a:moveTo>
                <a:lnTo>
                  <a:pt x="2334204" y="0"/>
                </a:lnTo>
                <a:lnTo>
                  <a:pt x="2334204" y="1141638"/>
                </a:lnTo>
                <a:lnTo>
                  <a:pt x="0" y="1141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71652" y="1813853"/>
            <a:ext cx="5569631" cy="3713087"/>
          </a:xfrm>
          <a:custGeom>
            <a:avLst/>
            <a:gdLst/>
            <a:ahLst/>
            <a:cxnLst/>
            <a:rect r="r" b="b" t="t" l="l"/>
            <a:pathLst>
              <a:path h="3713087" w="5569631">
                <a:moveTo>
                  <a:pt x="0" y="0"/>
                </a:moveTo>
                <a:lnTo>
                  <a:pt x="5569631" y="0"/>
                </a:lnTo>
                <a:lnTo>
                  <a:pt x="5569631" y="3713087"/>
                </a:lnTo>
                <a:lnTo>
                  <a:pt x="0" y="37130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56039" y="4217958"/>
            <a:ext cx="4990285" cy="3328481"/>
          </a:xfrm>
          <a:custGeom>
            <a:avLst/>
            <a:gdLst/>
            <a:ahLst/>
            <a:cxnLst/>
            <a:rect r="r" b="b" t="t" l="l"/>
            <a:pathLst>
              <a:path h="3328481" w="4990285">
                <a:moveTo>
                  <a:pt x="0" y="0"/>
                </a:moveTo>
                <a:lnTo>
                  <a:pt x="4990285" y="0"/>
                </a:lnTo>
                <a:lnTo>
                  <a:pt x="4990285" y="3328481"/>
                </a:lnTo>
                <a:lnTo>
                  <a:pt x="0" y="332848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06472" y="6404635"/>
            <a:ext cx="4899991" cy="3271198"/>
          </a:xfrm>
          <a:custGeom>
            <a:avLst/>
            <a:gdLst/>
            <a:ahLst/>
            <a:cxnLst/>
            <a:rect r="r" b="b" t="t" l="l"/>
            <a:pathLst>
              <a:path h="3271198" w="4899991">
                <a:moveTo>
                  <a:pt x="0" y="0"/>
                </a:moveTo>
                <a:lnTo>
                  <a:pt x="4899991" y="0"/>
                </a:lnTo>
                <a:lnTo>
                  <a:pt x="4899991" y="3271198"/>
                </a:lnTo>
                <a:lnTo>
                  <a:pt x="0" y="32711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851200" y="3253675"/>
            <a:ext cx="5408100" cy="255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  <a:spcBef>
                <a:spcPct val="0"/>
              </a:spcBef>
            </a:pPr>
            <a:r>
              <a:rPr lang="en-US" b="true" sz="5600" strike="noStrike" u="none">
                <a:solidFill>
                  <a:srgbClr val="1C1C1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這不是單一廟宇問題，而是逾 17 億人的共同痛點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32673" y="6280810"/>
            <a:ext cx="4697124" cy="1624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3240"/>
              </a:lnSpc>
              <a:buFont typeface="Arial"/>
              <a:buChar char="•"/>
            </a:pPr>
            <a:r>
              <a:rPr lang="en-US" b="true" sz="1800" strike="noStrike" u="non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97.0 µg/m³ 平均｜1,360 µg/m³ 峰值</a:t>
            </a:r>
          </a:p>
          <a:p>
            <a:pPr algn="l" marL="388620" indent="-194310" lvl="1">
              <a:lnSpc>
                <a:spcPts val="3240"/>
              </a:lnSpc>
              <a:buFont typeface="Arial"/>
              <a:buChar char="•"/>
            </a:pPr>
            <a:r>
              <a:rPr lang="en-US" b="true" sz="1800" strike="noStrike" u="non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3,000+ 件宮廟空污陳情／年</a:t>
            </a:r>
          </a:p>
          <a:p>
            <a:pPr algn="l" marL="388620" indent="-194310" lvl="1">
              <a:lnSpc>
                <a:spcPts val="3240"/>
              </a:lnSpc>
              <a:buFont typeface="Arial"/>
              <a:buChar char="•"/>
            </a:pPr>
            <a:r>
              <a:rPr lang="en-US" b="true" sz="1800" strike="noStrike" u="non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2.1 萬公噸焚香／年</a:t>
            </a:r>
          </a:p>
          <a:p>
            <a:pPr algn="l" marL="388620" indent="-194310" lvl="1">
              <a:lnSpc>
                <a:spcPts val="3240"/>
              </a:lnSpc>
              <a:buFont typeface="Arial"/>
              <a:buChar char="•"/>
            </a:pPr>
            <a:r>
              <a:rPr lang="en-US" b="true" sz="1800" strike="noStrike" u="non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東亞、南亞可複製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2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0154" y="-514350"/>
            <a:ext cx="8880490" cy="10801350"/>
            <a:chOff x="0" y="0"/>
            <a:chExt cx="2338895" cy="284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8895" cy="2844800"/>
            </a:xfrm>
            <a:custGeom>
              <a:avLst/>
              <a:gdLst/>
              <a:ahLst/>
              <a:cxnLst/>
              <a:rect r="r" b="b" t="t" l="l"/>
              <a:pathLst>
                <a:path h="2844800" w="2338895">
                  <a:moveTo>
                    <a:pt x="0" y="0"/>
                  </a:moveTo>
                  <a:lnTo>
                    <a:pt x="2338895" y="0"/>
                  </a:lnTo>
                  <a:lnTo>
                    <a:pt x="2338895" y="2844800"/>
                  </a:lnTo>
                  <a:lnTo>
                    <a:pt x="0" y="2844800"/>
                  </a:lnTo>
                  <a:close/>
                </a:path>
              </a:pathLst>
            </a:custGeom>
            <a:solidFill>
              <a:srgbClr val="CB7F6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338895" cy="2968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42058" y="8371748"/>
            <a:ext cx="7315200" cy="1915252"/>
          </a:xfrm>
          <a:custGeom>
            <a:avLst/>
            <a:gdLst/>
            <a:ahLst/>
            <a:cxnLst/>
            <a:rect r="r" b="b" t="t" l="l"/>
            <a:pathLst>
              <a:path h="1915252" w="7315200">
                <a:moveTo>
                  <a:pt x="0" y="0"/>
                </a:moveTo>
                <a:lnTo>
                  <a:pt x="7315200" y="0"/>
                </a:lnTo>
                <a:lnTo>
                  <a:pt x="7315200" y="1915252"/>
                </a:lnTo>
                <a:lnTo>
                  <a:pt x="0" y="1915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0" y="5022526"/>
            <a:ext cx="2163220" cy="5264474"/>
          </a:xfrm>
          <a:custGeom>
            <a:avLst/>
            <a:gdLst/>
            <a:ahLst/>
            <a:cxnLst/>
            <a:rect r="r" b="b" t="t" l="l"/>
            <a:pathLst>
              <a:path h="5264474" w="2163220">
                <a:moveTo>
                  <a:pt x="2163220" y="0"/>
                </a:moveTo>
                <a:lnTo>
                  <a:pt x="0" y="0"/>
                </a:lnTo>
                <a:lnTo>
                  <a:pt x="0" y="5264474"/>
                </a:lnTo>
                <a:lnTo>
                  <a:pt x="2163220" y="5264474"/>
                </a:lnTo>
                <a:lnTo>
                  <a:pt x="21632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998362" y="23475"/>
            <a:ext cx="3626827" cy="3086100"/>
          </a:xfrm>
          <a:custGeom>
            <a:avLst/>
            <a:gdLst/>
            <a:ahLst/>
            <a:cxnLst/>
            <a:rect r="r" b="b" t="t" l="l"/>
            <a:pathLst>
              <a:path h="3086100" w="3626827">
                <a:moveTo>
                  <a:pt x="0" y="0"/>
                </a:moveTo>
                <a:lnTo>
                  <a:pt x="3626827" y="0"/>
                </a:lnTo>
                <a:lnTo>
                  <a:pt x="3626827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0972800" y="0"/>
            <a:ext cx="7315200" cy="1915252"/>
          </a:xfrm>
          <a:custGeom>
            <a:avLst/>
            <a:gdLst/>
            <a:ahLst/>
            <a:cxnLst/>
            <a:rect r="r" b="b" t="t" l="l"/>
            <a:pathLst>
              <a:path h="1915252" w="7315200">
                <a:moveTo>
                  <a:pt x="0" y="1915252"/>
                </a:moveTo>
                <a:lnTo>
                  <a:pt x="7315200" y="1915252"/>
                </a:lnTo>
                <a:lnTo>
                  <a:pt x="7315200" y="0"/>
                </a:lnTo>
                <a:lnTo>
                  <a:pt x="0" y="0"/>
                </a:lnTo>
                <a:lnTo>
                  <a:pt x="0" y="19152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83626" y="2602104"/>
            <a:ext cx="10246528" cy="7684896"/>
          </a:xfrm>
          <a:custGeom>
            <a:avLst/>
            <a:gdLst/>
            <a:ahLst/>
            <a:cxnLst/>
            <a:rect r="r" b="b" t="t" l="l"/>
            <a:pathLst>
              <a:path h="7684896" w="10246528">
                <a:moveTo>
                  <a:pt x="0" y="0"/>
                </a:moveTo>
                <a:lnTo>
                  <a:pt x="10246528" y="0"/>
                </a:lnTo>
                <a:lnTo>
                  <a:pt x="10246528" y="7684896"/>
                </a:lnTo>
                <a:lnTo>
                  <a:pt x="0" y="76848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547513" y="2712713"/>
            <a:ext cx="5620548" cy="255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  <a:spcBef>
                <a:spcPct val="0"/>
              </a:spcBef>
            </a:pPr>
            <a:r>
              <a:rPr lang="en-US" b="true" sz="5600" strike="noStrike" u="none">
                <a:solidFill>
                  <a:srgbClr val="1C1C1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我們不重建香爐，而是把低價模組加裝上去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38752" y="5540266"/>
            <a:ext cx="4797649" cy="203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3240"/>
              </a:lnSpc>
              <a:buFont typeface="Arial"/>
              <a:buChar char="•"/>
            </a:pPr>
            <a:r>
              <a:rPr lang="en-US" b="true" sz="1800" strike="noStrike" u="none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RETROFIT｜加裝在既有香爐</a:t>
            </a:r>
          </a:p>
          <a:p>
            <a:pPr algn="l" marL="388620" indent="-194310" lvl="1">
              <a:lnSpc>
                <a:spcPts val="3240"/>
              </a:lnSpc>
              <a:buFont typeface="Arial"/>
              <a:buChar char="•"/>
            </a:pPr>
            <a:r>
              <a:rPr lang="en-US" b="true" sz="1800" strike="noStrike" u="none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單機物料 &lt; NT$4,200〔概念估算〕</a:t>
            </a:r>
          </a:p>
          <a:p>
            <a:pPr algn="l" marL="388620" indent="-194310" lvl="1">
              <a:lnSpc>
                <a:spcPts val="3240"/>
              </a:lnSpc>
              <a:buFont typeface="Arial"/>
              <a:buChar char="•"/>
            </a:pPr>
            <a:r>
              <a:rPr lang="en-US" b="true" sz="1800" strike="noStrike" u="none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十年 TCO 約為碳中和金爐 1/8</a:t>
            </a:r>
          </a:p>
          <a:p>
            <a:pPr algn="l" marL="388620" indent="-194310" lvl="1">
              <a:lnSpc>
                <a:spcPts val="3240"/>
              </a:lnSpc>
              <a:buFont typeface="Arial"/>
              <a:buChar char="•"/>
            </a:pPr>
            <a:r>
              <a:rPr lang="en-US" b="true" sz="1800" strike="noStrike" u="none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省約 87%〔概念估算、非報價〕</a:t>
            </a:r>
          </a:p>
          <a:p>
            <a:pPr algn="l" marL="388620" indent="-194310" lvl="1">
              <a:lnSpc>
                <a:spcPts val="3240"/>
              </a:lnSpc>
              <a:buFont typeface="Arial"/>
              <a:buChar char="•"/>
            </a:pPr>
            <a:r>
              <a:rPr lang="en-US" b="true" sz="1800" strike="noStrike" u="none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延伸至餐飲油煙市場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2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70597" y="1488102"/>
            <a:ext cx="2833103" cy="2985070"/>
          </a:xfrm>
          <a:custGeom>
            <a:avLst/>
            <a:gdLst/>
            <a:ahLst/>
            <a:cxnLst/>
            <a:rect r="r" b="b" t="t" l="l"/>
            <a:pathLst>
              <a:path h="2985070" w="2833103">
                <a:moveTo>
                  <a:pt x="0" y="0"/>
                </a:moveTo>
                <a:lnTo>
                  <a:pt x="2833103" y="0"/>
                </a:lnTo>
                <a:lnTo>
                  <a:pt x="2833103" y="2985070"/>
                </a:lnTo>
                <a:lnTo>
                  <a:pt x="0" y="2985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8169701" y="2084717"/>
            <a:ext cx="2057162" cy="2167507"/>
          </a:xfrm>
          <a:custGeom>
            <a:avLst/>
            <a:gdLst/>
            <a:ahLst/>
            <a:cxnLst/>
            <a:rect r="r" b="b" t="t" l="l"/>
            <a:pathLst>
              <a:path h="2167507" w="2057162">
                <a:moveTo>
                  <a:pt x="2057161" y="0"/>
                </a:moveTo>
                <a:lnTo>
                  <a:pt x="0" y="0"/>
                </a:lnTo>
                <a:lnTo>
                  <a:pt x="0" y="2167507"/>
                </a:lnTo>
                <a:lnTo>
                  <a:pt x="2057161" y="2167507"/>
                </a:lnTo>
                <a:lnTo>
                  <a:pt x="205716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514350" y="-514350"/>
            <a:ext cx="7808520" cy="11506801"/>
            <a:chOff x="0" y="0"/>
            <a:chExt cx="2056565" cy="3030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56565" cy="3030598"/>
            </a:xfrm>
            <a:custGeom>
              <a:avLst/>
              <a:gdLst/>
              <a:ahLst/>
              <a:cxnLst/>
              <a:rect r="r" b="b" t="t" l="l"/>
              <a:pathLst>
                <a:path h="3030598" w="2056565">
                  <a:moveTo>
                    <a:pt x="0" y="0"/>
                  </a:moveTo>
                  <a:lnTo>
                    <a:pt x="2056565" y="0"/>
                  </a:lnTo>
                  <a:lnTo>
                    <a:pt x="2056565" y="3030598"/>
                  </a:lnTo>
                  <a:lnTo>
                    <a:pt x="0" y="3030598"/>
                  </a:lnTo>
                  <a:close/>
                </a:path>
              </a:pathLst>
            </a:custGeom>
            <a:solidFill>
              <a:srgbClr val="CB7F6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2056565" cy="3154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389910" y="7920240"/>
            <a:ext cx="3441469" cy="4114800"/>
          </a:xfrm>
          <a:custGeom>
            <a:avLst/>
            <a:gdLst/>
            <a:ahLst/>
            <a:cxnLst/>
            <a:rect r="r" b="b" t="t" l="l"/>
            <a:pathLst>
              <a:path h="4114800" w="3441469">
                <a:moveTo>
                  <a:pt x="0" y="0"/>
                </a:moveTo>
                <a:lnTo>
                  <a:pt x="3441469" y="0"/>
                </a:lnTo>
                <a:lnTo>
                  <a:pt x="34414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-51559" y="-1803926"/>
            <a:ext cx="3441469" cy="4114800"/>
          </a:xfrm>
          <a:custGeom>
            <a:avLst/>
            <a:gdLst/>
            <a:ahLst/>
            <a:cxnLst/>
            <a:rect r="r" b="b" t="t" l="l"/>
            <a:pathLst>
              <a:path h="4114800" w="3441469">
                <a:moveTo>
                  <a:pt x="0" y="0"/>
                </a:moveTo>
                <a:lnTo>
                  <a:pt x="3441469" y="0"/>
                </a:lnTo>
                <a:lnTo>
                  <a:pt x="34414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925253" y="3264940"/>
            <a:ext cx="9362747" cy="7022060"/>
          </a:xfrm>
          <a:custGeom>
            <a:avLst/>
            <a:gdLst/>
            <a:ahLst/>
            <a:cxnLst/>
            <a:rect r="r" b="b" t="t" l="l"/>
            <a:pathLst>
              <a:path h="7022060" w="9362747">
                <a:moveTo>
                  <a:pt x="0" y="0"/>
                </a:moveTo>
                <a:lnTo>
                  <a:pt x="9362747" y="0"/>
                </a:lnTo>
                <a:lnTo>
                  <a:pt x="9362747" y="7022060"/>
                </a:lnTo>
                <a:lnTo>
                  <a:pt x="0" y="70220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27826" y="2971112"/>
            <a:ext cx="5579398" cy="255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  <a:spcBef>
                <a:spcPct val="0"/>
              </a:spcBef>
            </a:pPr>
            <a:r>
              <a:rPr lang="en-US" b="true" sz="5600" strike="noStrike" u="none">
                <a:solidFill>
                  <a:srgbClr val="1C1C1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空污等於「產生 − 移除」，我們只放大移除端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7826" y="5681398"/>
            <a:ext cx="4689559" cy="1624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3240"/>
              </a:lnSpc>
              <a:buFont typeface="Arial"/>
              <a:buChar char="•"/>
            </a:pPr>
            <a:r>
              <a:rPr lang="en-US" b="true" sz="1800" strike="noStrike" u="none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產生端：保留信仰</a:t>
            </a:r>
          </a:p>
          <a:p>
            <a:pPr algn="l" marL="388620" indent="-194310" lvl="1">
              <a:lnSpc>
                <a:spcPts val="3240"/>
              </a:lnSpc>
              <a:buFont typeface="Arial"/>
              <a:buChar char="•"/>
            </a:pPr>
            <a:r>
              <a:rPr lang="en-US" b="true" sz="1800" strike="noStrike" u="none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移除端：捕集、抽排、過濾</a:t>
            </a:r>
          </a:p>
          <a:p>
            <a:pPr algn="l" marL="388620" indent="-194310" lvl="1">
              <a:lnSpc>
                <a:spcPts val="3240"/>
              </a:lnSpc>
              <a:buFont typeface="Arial"/>
              <a:buChar char="•"/>
            </a:pPr>
            <a:r>
              <a:rPr lang="en-US" b="true" sz="1800" strike="noStrike" u="none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讓香爐自己學會呼吸</a:t>
            </a:r>
          </a:p>
          <a:p>
            <a:pPr algn="l" marL="388620" indent="-194310" lvl="1">
              <a:lnSpc>
                <a:spcPts val="3240"/>
              </a:lnSpc>
              <a:buFont typeface="Arial"/>
              <a:buChar char="•"/>
            </a:pPr>
            <a:r>
              <a:rPr lang="en-US" b="true" sz="1800" strike="noStrike" u="none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不叫信眾停止呼吸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2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0"/>
            <a:ext cx="9313018" cy="11089808"/>
            <a:chOff x="0" y="0"/>
            <a:chExt cx="2452811" cy="29207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2811" cy="2920772"/>
            </a:xfrm>
            <a:custGeom>
              <a:avLst/>
              <a:gdLst/>
              <a:ahLst/>
              <a:cxnLst/>
              <a:rect r="r" b="b" t="t" l="l"/>
              <a:pathLst>
                <a:path h="2920772" w="2452811">
                  <a:moveTo>
                    <a:pt x="0" y="0"/>
                  </a:moveTo>
                  <a:lnTo>
                    <a:pt x="2452811" y="0"/>
                  </a:lnTo>
                  <a:lnTo>
                    <a:pt x="2452811" y="2920772"/>
                  </a:lnTo>
                  <a:lnTo>
                    <a:pt x="0" y="2920772"/>
                  </a:lnTo>
                  <a:close/>
                </a:path>
              </a:pathLst>
            </a:custGeom>
            <a:solidFill>
              <a:srgbClr val="CB7F6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452811" cy="3044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30381" y="8118626"/>
            <a:ext cx="6971649" cy="2522469"/>
          </a:xfrm>
          <a:custGeom>
            <a:avLst/>
            <a:gdLst/>
            <a:ahLst/>
            <a:cxnLst/>
            <a:rect r="r" b="b" t="t" l="l"/>
            <a:pathLst>
              <a:path h="2522469" w="6971649">
                <a:moveTo>
                  <a:pt x="0" y="0"/>
                </a:moveTo>
                <a:lnTo>
                  <a:pt x="6971649" y="0"/>
                </a:lnTo>
                <a:lnTo>
                  <a:pt x="6971649" y="2522469"/>
                </a:lnTo>
                <a:lnTo>
                  <a:pt x="0" y="2522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41268" y="9126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41268" y="91265"/>
            <a:ext cx="2036672" cy="4114800"/>
          </a:xfrm>
          <a:custGeom>
            <a:avLst/>
            <a:gdLst/>
            <a:ahLst/>
            <a:cxnLst/>
            <a:rect r="r" b="b" t="t" l="l"/>
            <a:pathLst>
              <a:path h="4114800" w="2036672">
                <a:moveTo>
                  <a:pt x="0" y="0"/>
                </a:moveTo>
                <a:lnTo>
                  <a:pt x="2036672" y="0"/>
                </a:lnTo>
                <a:lnTo>
                  <a:pt x="20366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02035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56068" y="1399029"/>
            <a:ext cx="6977361" cy="9690779"/>
          </a:xfrm>
          <a:custGeom>
            <a:avLst/>
            <a:gdLst/>
            <a:ahLst/>
            <a:cxnLst/>
            <a:rect r="r" b="b" t="t" l="l"/>
            <a:pathLst>
              <a:path h="9690779" w="6977361">
                <a:moveTo>
                  <a:pt x="0" y="0"/>
                </a:moveTo>
                <a:lnTo>
                  <a:pt x="6977360" y="0"/>
                </a:lnTo>
                <a:lnTo>
                  <a:pt x="6977360" y="9690779"/>
                </a:lnTo>
                <a:lnTo>
                  <a:pt x="0" y="96907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38505" y="2691097"/>
            <a:ext cx="4503507" cy="255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  <a:spcBef>
                <a:spcPct val="0"/>
              </a:spcBef>
            </a:pPr>
            <a:r>
              <a:rPr lang="en-US" b="true" sz="5600" strike="noStrike" u="none">
                <a:solidFill>
                  <a:srgbClr val="1C1C1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感測、決策、機構，讓香爐自己學會呼吸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8505" y="5551838"/>
            <a:ext cx="3815951" cy="80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1C1C1C"/>
                </a:solidFill>
                <a:latin typeface="Poppins Light"/>
                <a:ea typeface="Poppins Light"/>
                <a:cs typeface="Poppins Light"/>
                <a:sym typeface="Poppins Light"/>
              </a:rPr>
              <a:t>過濾｜金屬紗網 → HEPA → 活性碳</a:t>
            </a:r>
          </a:p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1C1C1C"/>
                </a:solidFill>
                <a:latin typeface="Poppins Light"/>
                <a:ea typeface="Poppins Light"/>
                <a:cs typeface="Poppins Light"/>
                <a:sym typeface="Poppins Light"/>
              </a:rPr>
              <a:t>順序即安全，核心智慧在前饋削峰。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2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13594" y="-257555"/>
            <a:ext cx="13816618" cy="12267593"/>
            <a:chOff x="0" y="0"/>
            <a:chExt cx="3638945" cy="32309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38945" cy="3230971"/>
            </a:xfrm>
            <a:custGeom>
              <a:avLst/>
              <a:gdLst/>
              <a:ahLst/>
              <a:cxnLst/>
              <a:rect r="r" b="b" t="t" l="l"/>
              <a:pathLst>
                <a:path h="3230971" w="3638945">
                  <a:moveTo>
                    <a:pt x="0" y="0"/>
                  </a:moveTo>
                  <a:lnTo>
                    <a:pt x="3638945" y="0"/>
                  </a:lnTo>
                  <a:lnTo>
                    <a:pt x="3638945" y="3230971"/>
                  </a:lnTo>
                  <a:lnTo>
                    <a:pt x="0" y="3230971"/>
                  </a:lnTo>
                  <a:close/>
                </a:path>
              </a:pathLst>
            </a:custGeom>
            <a:solidFill>
              <a:srgbClr val="CB7F6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3638945" cy="3354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346365" y="-143142"/>
            <a:ext cx="1925690" cy="3124275"/>
          </a:xfrm>
          <a:custGeom>
            <a:avLst/>
            <a:gdLst/>
            <a:ahLst/>
            <a:cxnLst/>
            <a:rect r="r" b="b" t="t" l="l"/>
            <a:pathLst>
              <a:path h="3124275" w="1925690">
                <a:moveTo>
                  <a:pt x="0" y="0"/>
                </a:moveTo>
                <a:lnTo>
                  <a:pt x="1925690" y="0"/>
                </a:lnTo>
                <a:lnTo>
                  <a:pt x="1925690" y="3124275"/>
                </a:lnTo>
                <a:lnTo>
                  <a:pt x="0" y="31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7164" y="7895238"/>
            <a:ext cx="3441469" cy="4114800"/>
          </a:xfrm>
          <a:custGeom>
            <a:avLst/>
            <a:gdLst/>
            <a:ahLst/>
            <a:cxnLst/>
            <a:rect r="r" b="b" t="t" l="l"/>
            <a:pathLst>
              <a:path h="4114800" w="3441469">
                <a:moveTo>
                  <a:pt x="0" y="0"/>
                </a:moveTo>
                <a:lnTo>
                  <a:pt x="3441469" y="0"/>
                </a:lnTo>
                <a:lnTo>
                  <a:pt x="34414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99674" y="750551"/>
            <a:ext cx="9970086" cy="6613813"/>
          </a:xfrm>
          <a:custGeom>
            <a:avLst/>
            <a:gdLst/>
            <a:ahLst/>
            <a:cxnLst/>
            <a:rect r="r" b="b" t="t" l="l"/>
            <a:pathLst>
              <a:path h="6613813" w="9970086">
                <a:moveTo>
                  <a:pt x="0" y="0"/>
                </a:moveTo>
                <a:lnTo>
                  <a:pt x="9970086" y="0"/>
                </a:lnTo>
                <a:lnTo>
                  <a:pt x="9970086" y="6613814"/>
                </a:lnTo>
                <a:lnTo>
                  <a:pt x="0" y="6613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66897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13594" y="7685112"/>
            <a:ext cx="1450673" cy="2485577"/>
          </a:xfrm>
          <a:custGeom>
            <a:avLst/>
            <a:gdLst/>
            <a:ahLst/>
            <a:cxnLst/>
            <a:rect r="r" b="b" t="t" l="l"/>
            <a:pathLst>
              <a:path h="2485577" w="1450673">
                <a:moveTo>
                  <a:pt x="0" y="0"/>
                </a:moveTo>
                <a:lnTo>
                  <a:pt x="1450673" y="0"/>
                </a:lnTo>
                <a:lnTo>
                  <a:pt x="1450673" y="2485576"/>
                </a:lnTo>
                <a:lnTo>
                  <a:pt x="0" y="24855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10179" y="3381375"/>
            <a:ext cx="5989973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59"/>
              </a:lnSpc>
              <a:spcBef>
                <a:spcPct val="0"/>
              </a:spcBef>
            </a:pPr>
            <a:r>
              <a:rPr lang="en-US" b="true" sz="5799" strike="noStrike" u="none">
                <a:solidFill>
                  <a:srgbClr val="1C1C1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每一層失效，</a:t>
            </a:r>
          </a:p>
          <a:p>
            <a:pPr algn="l" marL="0" indent="0" lvl="0">
              <a:lnSpc>
                <a:spcPts val="6959"/>
              </a:lnSpc>
              <a:spcBef>
                <a:spcPct val="0"/>
              </a:spcBef>
            </a:pPr>
            <a:r>
              <a:rPr lang="en-US" b="true" sz="5799" strike="noStrike" u="none">
                <a:solidFill>
                  <a:srgbClr val="1C1C1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都往安全方向收斂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2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7400" y="0"/>
            <a:ext cx="3086100" cy="11466518"/>
            <a:chOff x="0" y="0"/>
            <a:chExt cx="812800" cy="30199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019988"/>
            </a:xfrm>
            <a:custGeom>
              <a:avLst/>
              <a:gdLst/>
              <a:ahLst/>
              <a:cxnLst/>
              <a:rect r="r" b="b" t="t" l="l"/>
              <a:pathLst>
                <a:path h="301998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019988"/>
                  </a:lnTo>
                  <a:lnTo>
                    <a:pt x="0" y="3019988"/>
                  </a:lnTo>
                  <a:close/>
                </a:path>
              </a:pathLst>
            </a:custGeom>
            <a:solidFill>
              <a:srgbClr val="CD6C4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812800" cy="3143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-262801"/>
            <a:ext cx="3086100" cy="11466518"/>
            <a:chOff x="0" y="0"/>
            <a:chExt cx="812800" cy="30199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3019988"/>
            </a:xfrm>
            <a:custGeom>
              <a:avLst/>
              <a:gdLst/>
              <a:ahLst/>
              <a:cxnLst/>
              <a:rect r="r" b="b" t="t" l="l"/>
              <a:pathLst>
                <a:path h="301998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019988"/>
                  </a:lnTo>
                  <a:lnTo>
                    <a:pt x="0" y="3019988"/>
                  </a:lnTo>
                  <a:close/>
                </a:path>
              </a:pathLst>
            </a:custGeom>
            <a:solidFill>
              <a:srgbClr val="CD6C4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812800" cy="3143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989019" y="5143500"/>
            <a:ext cx="2163220" cy="5264474"/>
          </a:xfrm>
          <a:custGeom>
            <a:avLst/>
            <a:gdLst/>
            <a:ahLst/>
            <a:cxnLst/>
            <a:rect r="r" b="b" t="t" l="l"/>
            <a:pathLst>
              <a:path h="5264474" w="2163220">
                <a:moveTo>
                  <a:pt x="0" y="0"/>
                </a:moveTo>
                <a:lnTo>
                  <a:pt x="2163220" y="0"/>
                </a:lnTo>
                <a:lnTo>
                  <a:pt x="2163220" y="5264474"/>
                </a:lnTo>
                <a:lnTo>
                  <a:pt x="0" y="52644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9166" y="0"/>
            <a:ext cx="1598878" cy="5982197"/>
          </a:xfrm>
          <a:custGeom>
            <a:avLst/>
            <a:gdLst/>
            <a:ahLst/>
            <a:cxnLst/>
            <a:rect r="r" b="b" t="t" l="l"/>
            <a:pathLst>
              <a:path h="5982197" w="1598878">
                <a:moveTo>
                  <a:pt x="0" y="0"/>
                </a:moveTo>
                <a:lnTo>
                  <a:pt x="1598878" y="0"/>
                </a:lnTo>
                <a:lnTo>
                  <a:pt x="1598878" y="5982197"/>
                </a:lnTo>
                <a:lnTo>
                  <a:pt x="0" y="59821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142850" y="3258439"/>
            <a:ext cx="6741394" cy="4424040"/>
          </a:xfrm>
          <a:custGeom>
            <a:avLst/>
            <a:gdLst/>
            <a:ahLst/>
            <a:cxnLst/>
            <a:rect r="r" b="b" t="t" l="l"/>
            <a:pathLst>
              <a:path h="4424040" w="6741394">
                <a:moveTo>
                  <a:pt x="0" y="0"/>
                </a:moveTo>
                <a:lnTo>
                  <a:pt x="6741394" y="0"/>
                </a:lnTo>
                <a:lnTo>
                  <a:pt x="6741394" y="4424039"/>
                </a:lnTo>
                <a:lnTo>
                  <a:pt x="0" y="44240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305025" y="5982197"/>
            <a:ext cx="4171655" cy="4171655"/>
          </a:xfrm>
          <a:custGeom>
            <a:avLst/>
            <a:gdLst/>
            <a:ahLst/>
            <a:cxnLst/>
            <a:rect r="r" b="b" t="t" l="l"/>
            <a:pathLst>
              <a:path h="4171655" w="4171655">
                <a:moveTo>
                  <a:pt x="0" y="0"/>
                </a:moveTo>
                <a:lnTo>
                  <a:pt x="4171655" y="0"/>
                </a:lnTo>
                <a:lnTo>
                  <a:pt x="4171655" y="4171655"/>
                </a:lnTo>
                <a:lnTo>
                  <a:pt x="0" y="41716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609155" y="823434"/>
            <a:ext cx="5770366" cy="255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  <a:spcBef>
                <a:spcPct val="0"/>
              </a:spcBef>
            </a:pPr>
            <a:r>
              <a:rPr lang="en-US" b="true" sz="5600" strike="noStrike" u="none">
                <a:solidFill>
                  <a:srgbClr val="1C1C1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2026 年 8 月，</a:t>
            </a:r>
          </a:p>
          <a:p>
            <a:pPr algn="l" marL="0" indent="0" lvl="0">
              <a:lnSpc>
                <a:spcPts val="6720"/>
              </a:lnSpc>
              <a:spcBef>
                <a:spcPct val="0"/>
              </a:spcBef>
            </a:pPr>
            <a:r>
              <a:rPr lang="en-US" b="true" sz="5600" strike="noStrike" u="none">
                <a:solidFill>
                  <a:srgbClr val="1C1C1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智慧香爐已在真實場域跑起來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09155" y="3540419"/>
            <a:ext cx="6187222" cy="193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2"/>
              </a:lnSpc>
              <a:spcBef>
                <a:spcPct val="0"/>
              </a:spcBef>
            </a:pPr>
            <a:r>
              <a:rPr lang="en-US" sz="1701" strike="noStrike" u="none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實機上線｜資料每秒入庫</a:t>
            </a:r>
          </a:p>
          <a:p>
            <a:pPr algn="l" marL="0" indent="0" lvl="0">
              <a:lnSpc>
                <a:spcPts val="3062"/>
              </a:lnSpc>
              <a:spcBef>
                <a:spcPct val="0"/>
              </a:spcBef>
            </a:pPr>
            <a:r>
              <a:rPr lang="en-US" sz="1701" strike="noStrike" u="none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12 項雲端驗收全過</a:t>
            </a:r>
          </a:p>
          <a:p>
            <a:pPr algn="l" marL="0" indent="0" lvl="0">
              <a:lnSpc>
                <a:spcPts val="3062"/>
              </a:lnSpc>
              <a:spcBef>
                <a:spcPct val="0"/>
              </a:spcBef>
            </a:pPr>
            <a:r>
              <a:rPr lang="en-US" sz="1701" strike="noStrike" u="none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3 個公開唯讀儀表板</a:t>
            </a:r>
          </a:p>
          <a:p>
            <a:pPr algn="l" marL="0" indent="0" lvl="0">
              <a:lnSpc>
                <a:spcPts val="3062"/>
              </a:lnSpc>
              <a:spcBef>
                <a:spcPct val="0"/>
              </a:spcBef>
            </a:pPr>
            <a:r>
              <a:rPr lang="en-US" sz="1701" strike="noStrike" u="none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下一步：H1／H2／H3 將以對照實驗檢定</a:t>
            </a:r>
          </a:p>
          <a:p>
            <a:pPr algn="l" marL="0" indent="0" lvl="0">
              <a:lnSpc>
                <a:spcPts val="3062"/>
              </a:lnSpc>
              <a:spcBef>
                <a:spcPct val="0"/>
              </a:spcBef>
            </a:pPr>
            <a:r>
              <a:rPr lang="en-US" sz="1701" strike="noStrike" u="none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※ 皆為設計目標，非已達成成效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2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76313" y="1028700"/>
            <a:ext cx="6082987" cy="8229600"/>
            <a:chOff x="0" y="0"/>
            <a:chExt cx="2096553" cy="2836401"/>
          </a:xfrm>
        </p:grpSpPr>
        <p:sp>
          <p:nvSpPr>
            <p:cNvPr name="Freeform 3" id="3" descr="信眾在清爽明亮的寺廟中祈福，香爐上方煙霧被集煙罩控制"/>
            <p:cNvSpPr/>
            <p:nvPr/>
          </p:nvSpPr>
          <p:spPr>
            <a:xfrm flipH="false" flipV="false" rot="0">
              <a:off x="0" y="0"/>
              <a:ext cx="2096553" cy="2836401"/>
            </a:xfrm>
            <a:custGeom>
              <a:avLst/>
              <a:gdLst/>
              <a:ahLst/>
              <a:cxnLst/>
              <a:rect r="r" b="b" t="t" l="l"/>
              <a:pathLst>
                <a:path h="2836401" w="2096553">
                  <a:moveTo>
                    <a:pt x="19091" y="0"/>
                  </a:moveTo>
                  <a:lnTo>
                    <a:pt x="2077462" y="0"/>
                  </a:lnTo>
                  <a:cubicBezTo>
                    <a:pt x="2082525" y="0"/>
                    <a:pt x="2087381" y="2011"/>
                    <a:pt x="2090961" y="5592"/>
                  </a:cubicBezTo>
                  <a:cubicBezTo>
                    <a:pt x="2094542" y="9172"/>
                    <a:pt x="2096553" y="14028"/>
                    <a:pt x="2096553" y="19091"/>
                  </a:cubicBezTo>
                  <a:lnTo>
                    <a:pt x="2096553" y="2817311"/>
                  </a:lnTo>
                  <a:cubicBezTo>
                    <a:pt x="2096553" y="2827854"/>
                    <a:pt x="2088006" y="2836401"/>
                    <a:pt x="2077462" y="2836401"/>
                  </a:cubicBezTo>
                  <a:lnTo>
                    <a:pt x="19091" y="2836401"/>
                  </a:lnTo>
                  <a:cubicBezTo>
                    <a:pt x="14028" y="2836401"/>
                    <a:pt x="9172" y="2834390"/>
                    <a:pt x="5592" y="2830810"/>
                  </a:cubicBezTo>
                  <a:cubicBezTo>
                    <a:pt x="2011" y="2827230"/>
                    <a:pt x="0" y="2822374"/>
                    <a:pt x="0" y="2817311"/>
                  </a:cubicBezTo>
                  <a:lnTo>
                    <a:pt x="0" y="19091"/>
                  </a:lnTo>
                  <a:cubicBezTo>
                    <a:pt x="0" y="14028"/>
                    <a:pt x="2011" y="9172"/>
                    <a:pt x="5592" y="5592"/>
                  </a:cubicBezTo>
                  <a:cubicBezTo>
                    <a:pt x="9172" y="2011"/>
                    <a:pt x="14028" y="0"/>
                    <a:pt x="19091" y="0"/>
                  </a:cubicBezTo>
                  <a:close/>
                </a:path>
              </a:pathLst>
            </a:custGeom>
            <a:blipFill>
              <a:blip r:embed="rId2"/>
              <a:stretch>
                <a:fillRect l="-70256" t="0" r="-7025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947941" y="-30894"/>
            <a:ext cx="1099774" cy="4114800"/>
          </a:xfrm>
          <a:custGeom>
            <a:avLst/>
            <a:gdLst/>
            <a:ahLst/>
            <a:cxnLst/>
            <a:rect r="r" b="b" t="t" l="l"/>
            <a:pathLst>
              <a:path h="4114800" w="1099774">
                <a:moveTo>
                  <a:pt x="0" y="0"/>
                </a:moveTo>
                <a:lnTo>
                  <a:pt x="1099773" y="0"/>
                </a:lnTo>
                <a:lnTo>
                  <a:pt x="10997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235599">
            <a:off x="-428628" y="8767906"/>
            <a:ext cx="4815191" cy="4114800"/>
          </a:xfrm>
          <a:custGeom>
            <a:avLst/>
            <a:gdLst/>
            <a:ahLst/>
            <a:cxnLst/>
            <a:rect r="r" b="b" t="t" l="l"/>
            <a:pathLst>
              <a:path h="4114800" w="4815191">
                <a:moveTo>
                  <a:pt x="0" y="0"/>
                </a:moveTo>
                <a:lnTo>
                  <a:pt x="4815192" y="0"/>
                </a:lnTo>
                <a:lnTo>
                  <a:pt x="48151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709295">
            <a:off x="4104291" y="8767906"/>
            <a:ext cx="4815191" cy="4114800"/>
          </a:xfrm>
          <a:custGeom>
            <a:avLst/>
            <a:gdLst/>
            <a:ahLst/>
            <a:cxnLst/>
            <a:rect r="r" b="b" t="t" l="l"/>
            <a:pathLst>
              <a:path h="4114800" w="4815191">
                <a:moveTo>
                  <a:pt x="0" y="0"/>
                </a:moveTo>
                <a:lnTo>
                  <a:pt x="4815192" y="0"/>
                </a:lnTo>
                <a:lnTo>
                  <a:pt x="48151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709295">
            <a:off x="13500707" y="8767906"/>
            <a:ext cx="4815191" cy="4114800"/>
          </a:xfrm>
          <a:custGeom>
            <a:avLst/>
            <a:gdLst/>
            <a:ahLst/>
            <a:cxnLst/>
            <a:rect r="r" b="b" t="t" l="l"/>
            <a:pathLst>
              <a:path h="4114800" w="4815191">
                <a:moveTo>
                  <a:pt x="0" y="0"/>
                </a:moveTo>
                <a:lnTo>
                  <a:pt x="4815192" y="0"/>
                </a:lnTo>
                <a:lnTo>
                  <a:pt x="48151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149674">
            <a:off x="8963632" y="8767906"/>
            <a:ext cx="4815191" cy="4114800"/>
          </a:xfrm>
          <a:custGeom>
            <a:avLst/>
            <a:gdLst/>
            <a:ahLst/>
            <a:cxnLst/>
            <a:rect r="r" b="b" t="t" l="l"/>
            <a:pathLst>
              <a:path h="4114800" w="4815191">
                <a:moveTo>
                  <a:pt x="0" y="0"/>
                </a:moveTo>
                <a:lnTo>
                  <a:pt x="4815192" y="0"/>
                </a:lnTo>
                <a:lnTo>
                  <a:pt x="48151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61563" y="2016981"/>
            <a:ext cx="6440256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  <a:spcBef>
                <a:spcPct val="0"/>
              </a:spcBef>
            </a:pPr>
            <a:r>
              <a:rPr lang="en-US" b="true" sz="5600" strike="noStrike" u="none">
                <a:solidFill>
                  <a:srgbClr val="1C1C1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香照燒，神明照拜，煙不見了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61563" y="3712431"/>
            <a:ext cx="4324288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健康跟信仰，不用二選一。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61563" y="5745892"/>
            <a:ext cx="2909920" cy="121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有拜有包庇</a:t>
            </a:r>
          </a:p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智慧香爐</a:t>
            </a:r>
          </a:p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WRO 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61563" y="5019675"/>
            <a:ext cx="477428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李承鴻・曾翊軒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DAHSocFZcCA</dc:identifier>
  <dcterms:modified xsi:type="dcterms:W3CDTF">2011-08-01T06:04:30Z</dcterms:modified>
  <cp:revision>1</cp:revision>
  <dc:title>香爐簡報</dc:title>
</cp:coreProperties>
</file>