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0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16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x="18288000" cy="10287000"/>
  <p:notesSz cx="6858000" cy="9144000"/>
  <p:embeddedFontLst>
    <p:embeddedFont>
      <p:font typeface="Open Sans Bold" charset="1" panose="00000000000000000000"/>
      <p:regular r:id="rId19"/>
    </p:embeddedFont>
    <p:embeddedFont>
      <p:font typeface="Poppins Light" charset="1" panose="00000400000000000000"/>
      <p:regular r:id="rId20"/>
    </p:embeddedFont>
    <p:embeddedFont>
      <p:font typeface="Poppins Bold" charset="1" panose="00000800000000000000"/>
      <p:regular r:id="rId2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notesMasters/notesMaster1.xml" Type="http://schemas.openxmlformats.org/officeDocument/2006/relationships/notesMaster"/><Relationship Id="rId17" Target="theme/theme2.xml" Type="http://schemas.openxmlformats.org/officeDocument/2006/relationships/theme"/><Relationship Id="rId18" Target="notesSlides/notesSlide1.xml" Type="http://schemas.openxmlformats.org/officeDocument/2006/relationships/notesSlide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notesSlides/notesSlide2.xml" Type="http://schemas.openxmlformats.org/officeDocument/2006/relationships/notesSlide"/><Relationship Id="rId22" Target="fonts/font22.fntdata" Type="http://schemas.openxmlformats.org/officeDocument/2006/relationships/font"/><Relationship Id="rId23" Target="notesSlides/notesSlide3.xml" Type="http://schemas.openxmlformats.org/officeDocument/2006/relationships/notesSlide"/><Relationship Id="rId24" Target="notesSlides/notesSlide4.xml" Type="http://schemas.openxmlformats.org/officeDocument/2006/relationships/notesSlide"/><Relationship Id="rId25" Target="notesSlides/notesSlide5.xml" Type="http://schemas.openxmlformats.org/officeDocument/2006/relationships/notesSlide"/><Relationship Id="rId26" Target="notesSlides/notesSlide6.xml" Type="http://schemas.openxmlformats.org/officeDocument/2006/relationships/notesSlide"/><Relationship Id="rId27" Target="notesSlides/notesSlide7.xml" Type="http://schemas.openxmlformats.org/officeDocument/2006/relationships/notesSlide"/><Relationship Id="rId28" Target="notesSlides/notesSlide8.xml" Type="http://schemas.openxmlformats.org/officeDocument/2006/relationships/notesSlide"/><Relationship Id="rId29" Target="notesSlides/notesSlide9.xml" Type="http://schemas.openxmlformats.org/officeDocument/2006/relationships/notesSlide"/><Relationship Id="rId3" Target="viewProps.xml" Type="http://schemas.openxmlformats.org/officeDocument/2006/relationships/viewProps"/><Relationship Id="rId30" Target="notesSlides/notesSlide10.xml" Type="http://schemas.openxmlformats.org/officeDocument/2006/relationships/notesSlide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_rels/notesSlide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.xml" Type="http://schemas.openxmlformats.org/officeDocument/2006/relationships/slide"/></Relationships>
</file>

<file path=ppt/notesSlides/_rels/notesSlide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.xml" Type="http://schemas.openxmlformats.org/officeDocument/2006/relationships/slide"/></Relationships>
</file>

<file path=ppt/notesSlides/_rels/notesSlide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.xml" Type="http://schemas.openxmlformats.org/officeDocument/2006/relationships/slide"/></Relationships>
</file>

<file path=ppt/notesSlides/_rels/notesSlide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.xml" Type="http://schemas.openxmlformats.org/officeDocument/2006/relationships/slide"/></Relationships>
</file>

<file path=ppt/notesSlides/_rels/notesSlide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.xml" Type="http://schemas.openxmlformats.org/officeDocument/2006/relationships/slide"/></Relationships>
</file>

<file path=ppt/notesSlides/_rels/notesSlide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8.xml" Type="http://schemas.openxmlformats.org/officeDocument/2006/relationships/slide"/></Relationships>
</file>

<file path=ppt/notesSlides/_rels/notesSlide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9.xml" Type="http://schemas.openxmlformats.org/officeDocument/2006/relationships/slide"/></Relationships>
</file>

<file path=ppt/notesSlides/_rels/notesSlide1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0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評審好,我們是「有拜有包庇」。這是很多人心中最安穩的地方——廟。</a:t>
            </a:r>
          </a:p>
          <a:p>
            <a:r>
              <a:rPr lang="en-US"/>
              <a:t>但它的空氣,可能是全場最毒的。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一支香,就能讓殿內 PM2.5 逼近 1,360,大約是戶外的 50 倍;</a:t>
            </a:r>
          </a:p>
          <a:p>
            <a:r>
              <a:rPr lang="en-US"/>
              <a:t>全球超過 17 億信眾,天天在這種空氣裡祈福;</a:t>
            </a:r>
          </a:p>
          <a:p>
            <a:r>
              <a:rPr lang="en-US"/>
              <a:t>長期暴露,呼吸道鱗癌風險高出 1.8 倍。</a:t>
            </a:r>
          </a:p>
          <a:p>
            <a:r>
              <a:rPr lang="en-US"/>
              <a:t>過去三十年,這個問題只有一個解法——叫大家不要燒香。</a:t>
            </a:r>
          </a:p>
          <a:p>
            <a:r>
              <a:rPr lang="en-US"/>
              <a:t>（停一拍）我們找到了第二個。而且,它已經在跑了。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為什麼不能直接禁?因為禁香不只是環保決策。</a:t>
            </a:r>
          </a:p>
          <a:p>
            <a:r>
              <a:rPr lang="en-US"/>
              <a:t>它踩到信仰:2017 年一句「減香」被誤傳成「滅香」,上萬人直接上凱道抗爭。</a:t>
            </a:r>
          </a:p>
          <a:p>
            <a:r>
              <a:rPr lang="en-US"/>
              <a:t>它也踩到生計:光印度手工捲香,就有 40 到 200 萬人靠它吃飯</a:t>
            </a:r>
          </a:p>
          <a:p>
            <a:r>
              <a:rPr lang="en-US"/>
              <a:t>環保、信仰、生計,傳統做法逼人三選一——而我們的立場是,健康跟信仰不該二選一。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而且這不是單一廟宇的問題。每年三千多件宮廟空污陳情、全台一年燒掉兩萬公噸的香;</a:t>
            </a:r>
          </a:p>
          <a:p>
            <a:r>
              <a:rPr lang="en-US"/>
              <a:t>同樣的機制,在東亞、南亞每個季風帶國家都成立。問題可複製,市場也可複製。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那怎麼解得便宜、又推得快?關鍵是:我們不重建香爐,而是做一個低價模組,</a:t>
            </a:r>
          </a:p>
          <a:p>
            <a:r>
              <a:rPr lang="en-US"/>
              <a:t>加裝在既有香爐上——retrofit。單機物料成本不到四千二;</a:t>
            </a:r>
          </a:p>
          <a:p>
            <a:r>
              <a:rPr lang="en-US"/>
              <a:t>十年總持有成本大約是碳中和金爐的八分之一,省約 87%——這是概念估算,不是報價。</a:t>
            </a:r>
          </a:p>
          <a:p>
            <a:r>
              <a:rPr lang="en-US"/>
              <a:t>同一套技術,之後還能延伸到餐飲油煙這種更大的市場。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原理很簡單:空污濃度等於產生減移除。產生端是信仰,我們動不得;</a:t>
            </a:r>
          </a:p>
          <a:p>
            <a:r>
              <a:rPr lang="en-US"/>
              <a:t>所以我們只放大移除端——讓香爐自己學會呼吸,而不是叫信眾停止呼吸。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那它怎麼運作?其實就三件事,很簡單。</a:t>
            </a:r>
          </a:p>
          <a:p>
            <a:r>
              <a:rPr lang="en-US"/>
              <a:t>第一,它會一直盯著空氣的狀況。</a:t>
            </a:r>
          </a:p>
          <a:p>
            <a:r>
              <a:rPr lang="en-US"/>
              <a:t>第二,它看得出人潮。人一多,大家呼出的二氧化碳會先變高;所以在大家插香之前,它就先知道「等一下煙要變多了」,提早把風扇轉起來,先把空氣清乾淨。</a:t>
            </a:r>
          </a:p>
          <a:p>
            <a:r>
              <a:rPr lang="en-US"/>
              <a:t>第三,它不會等煙飄滿整間廟才處理,而是煙一冒出來,就在爐口把它吸走、濾乾淨。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 那安全呢?我們的想法很單純:不管哪裡出問題——網路斷了、主機當了、感測器壞了,甚至整台沒電——它都會自動退回到最安全的狀態。最糟,也就是變回一台普通香爐;它絕對不會倒過來害人。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最重要的是,這些不是紙上談兵。2026 年 8 月,原型已經在真實場域上線,資料每秒進雲端;</a:t>
            </a:r>
          </a:p>
          <a:p>
            <a:r>
              <a:rPr lang="en-US"/>
              <a:t>12 項雲端驗收全過,3 個公開儀表板現在就能掃碼看即時數據。（指 QR）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香照燒,神明照拜,煙不見了。健康跟信仰,不用二選一。謝謝評審。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.xml" Type="http://schemas.openxmlformats.org/officeDocument/2006/relationships/notesSlide"/><Relationship Id="rId3" Target="../media/image1.png" Type="http://schemas.openxmlformats.org/officeDocument/2006/relationships/image"/><Relationship Id="rId4" Target="../media/image2.png" Type="http://schemas.openxmlformats.org/officeDocument/2006/relationships/image"/><Relationship Id="rId5" Target="../media/image3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jpeg" Type="http://schemas.openxmlformats.org/officeDocument/2006/relationships/image"/><Relationship Id="rId2" Target="../notesSlides/notesSlide2.xml" Type="http://schemas.openxmlformats.org/officeDocument/2006/relationships/notesSlide"/><Relationship Id="rId3" Target="../media/image4.jpeg" Type="http://schemas.openxmlformats.org/officeDocument/2006/relationships/image"/><Relationship Id="rId4" Target="../media/image5.png" Type="http://schemas.openxmlformats.org/officeDocument/2006/relationships/image"/><Relationship Id="rId5" Target="../media/image6.svg" Type="http://schemas.openxmlformats.org/officeDocument/2006/relationships/image"/><Relationship Id="rId6" Target="../media/image2.png" Type="http://schemas.openxmlformats.org/officeDocument/2006/relationships/image"/><Relationship Id="rId7" Target="../media/image3.svg" Type="http://schemas.openxmlformats.org/officeDocument/2006/relationships/image"/><Relationship Id="rId8" Target="../media/image7.png" Type="http://schemas.openxmlformats.org/officeDocument/2006/relationships/image"/><Relationship Id="rId9" Target="../media/image8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5.jpeg" Type="http://schemas.openxmlformats.org/officeDocument/2006/relationships/image"/><Relationship Id="rId11" Target="../media/image16.jpeg" Type="http://schemas.openxmlformats.org/officeDocument/2006/relationships/image"/><Relationship Id="rId2" Target="../notesSlides/notesSlide3.xml" Type="http://schemas.openxmlformats.org/officeDocument/2006/relationships/notesSlide"/><Relationship Id="rId3" Target="../media/image10.png" Type="http://schemas.openxmlformats.org/officeDocument/2006/relationships/image"/><Relationship Id="rId4" Target="../media/image11.svg" Type="http://schemas.openxmlformats.org/officeDocument/2006/relationships/image"/><Relationship Id="rId5" Target="../media/image12.png" Type="http://schemas.openxmlformats.org/officeDocument/2006/relationships/image"/><Relationship Id="rId6" Target="../media/image13.svg" Type="http://schemas.openxmlformats.org/officeDocument/2006/relationships/image"/><Relationship Id="rId7" Target="../media/image5.png" Type="http://schemas.openxmlformats.org/officeDocument/2006/relationships/image"/><Relationship Id="rId8" Target="../media/image6.svg" Type="http://schemas.openxmlformats.org/officeDocument/2006/relationships/image"/><Relationship Id="rId9" Target="../media/image14.jpe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4.jpeg" Type="http://schemas.openxmlformats.org/officeDocument/2006/relationships/image"/><Relationship Id="rId11" Target="../media/image25.jpeg" Type="http://schemas.openxmlformats.org/officeDocument/2006/relationships/image"/><Relationship Id="rId2" Target="../notesSlides/notesSlide4.xml" Type="http://schemas.openxmlformats.org/officeDocument/2006/relationships/notesSlide"/><Relationship Id="rId3" Target="../media/image17.png" Type="http://schemas.openxmlformats.org/officeDocument/2006/relationships/image"/><Relationship Id="rId4" Target="../media/image18.svg" Type="http://schemas.openxmlformats.org/officeDocument/2006/relationships/image"/><Relationship Id="rId5" Target="../media/image19.png" Type="http://schemas.openxmlformats.org/officeDocument/2006/relationships/image"/><Relationship Id="rId6" Target="../media/image20.svg" Type="http://schemas.openxmlformats.org/officeDocument/2006/relationships/image"/><Relationship Id="rId7" Target="../media/image21.png" Type="http://schemas.openxmlformats.org/officeDocument/2006/relationships/image"/><Relationship Id="rId8" Target="../media/image22.svg" Type="http://schemas.openxmlformats.org/officeDocument/2006/relationships/image"/><Relationship Id="rId9" Target="../media/image23.jpe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5.xml" Type="http://schemas.openxmlformats.org/officeDocument/2006/relationships/notesSlide"/><Relationship Id="rId3" Target="../media/image26.png" Type="http://schemas.openxmlformats.org/officeDocument/2006/relationships/image"/><Relationship Id="rId4" Target="../media/image27.svg" Type="http://schemas.openxmlformats.org/officeDocument/2006/relationships/image"/><Relationship Id="rId5" Target="../media/image28.png" Type="http://schemas.openxmlformats.org/officeDocument/2006/relationships/image"/><Relationship Id="rId6" Target="../media/image29.svg" Type="http://schemas.openxmlformats.org/officeDocument/2006/relationships/image"/><Relationship Id="rId7" Target="../media/image30.png" Type="http://schemas.openxmlformats.org/officeDocument/2006/relationships/image"/><Relationship Id="rId8" Target="../media/image31.svg" Type="http://schemas.openxmlformats.org/officeDocument/2006/relationships/image"/><Relationship Id="rId9" Target="../media/image32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6.xml" Type="http://schemas.openxmlformats.org/officeDocument/2006/relationships/notesSlide"/><Relationship Id="rId3" Target="../media/image17.png" Type="http://schemas.openxmlformats.org/officeDocument/2006/relationships/image"/><Relationship Id="rId4" Target="../media/image18.svg" Type="http://schemas.openxmlformats.org/officeDocument/2006/relationships/image"/><Relationship Id="rId5" Target="../media/image33.png" Type="http://schemas.openxmlformats.org/officeDocument/2006/relationships/image"/><Relationship Id="rId6" Target="../media/image34.svg" Type="http://schemas.openxmlformats.org/officeDocument/2006/relationships/image"/><Relationship Id="rId7" Target="../media/image35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7.xml" Type="http://schemas.openxmlformats.org/officeDocument/2006/relationships/notesSlide"/><Relationship Id="rId3" Target="../media/image36.png" Type="http://schemas.openxmlformats.org/officeDocument/2006/relationships/image"/><Relationship Id="rId4" Target="../media/image37.svg" Type="http://schemas.openxmlformats.org/officeDocument/2006/relationships/image"/><Relationship Id="rId5" Target="../media/image38.png" Type="http://schemas.openxmlformats.org/officeDocument/2006/relationships/image"/><Relationship Id="rId6" Target="../media/image39.svg" Type="http://schemas.openxmlformats.org/officeDocument/2006/relationships/image"/><Relationship Id="rId7" Target="../media/image40.png" Type="http://schemas.openxmlformats.org/officeDocument/2006/relationships/image"/><Relationship Id="rId8" Target="../media/image41.svg" Type="http://schemas.openxmlformats.org/officeDocument/2006/relationships/image"/><Relationship Id="rId9" Target="../media/image42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8.xml" Type="http://schemas.openxmlformats.org/officeDocument/2006/relationships/notesSlide"/><Relationship Id="rId3" Target="../media/image43.png" Type="http://schemas.openxmlformats.org/officeDocument/2006/relationships/image"/><Relationship Id="rId4" Target="../media/image44.svg" Type="http://schemas.openxmlformats.org/officeDocument/2006/relationships/image"/><Relationship Id="rId5" Target="../media/image45.png" Type="http://schemas.openxmlformats.org/officeDocument/2006/relationships/image"/><Relationship Id="rId6" Target="../media/image46.svg" Type="http://schemas.openxmlformats.org/officeDocument/2006/relationships/image"/><Relationship Id="rId7" Target="../media/image47.png" Type="http://schemas.openxmlformats.org/officeDocument/2006/relationships/image"/><Relationship Id="rId8" Target="../media/image48.png" Type="http://schemas.openxmlformats.org/officeDocument/2006/relationships/image"/><Relationship Id="rId9" Target="../media/image49.sv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9.xml" Type="http://schemas.openxmlformats.org/officeDocument/2006/relationships/notesSlide"/><Relationship Id="rId3" Target="../media/image28.png" Type="http://schemas.openxmlformats.org/officeDocument/2006/relationships/image"/><Relationship Id="rId4" Target="../media/image29.svg" Type="http://schemas.openxmlformats.org/officeDocument/2006/relationships/image"/><Relationship Id="rId5" Target="../media/image2.png" Type="http://schemas.openxmlformats.org/officeDocument/2006/relationships/image"/><Relationship Id="rId6" Target="../media/image3.svg" Type="http://schemas.openxmlformats.org/officeDocument/2006/relationships/image"/><Relationship Id="rId7" Target="../media/image50.png" Type="http://schemas.openxmlformats.org/officeDocument/2006/relationships/image"/><Relationship Id="rId8" Target="../media/image51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0.xml" Type="http://schemas.openxmlformats.org/officeDocument/2006/relationships/notesSlide"/><Relationship Id="rId3" Target="../media/image52.png" Type="http://schemas.openxmlformats.org/officeDocument/2006/relationships/image"/><Relationship Id="rId4" Target="../media/image2.png" Type="http://schemas.openxmlformats.org/officeDocument/2006/relationships/image"/><Relationship Id="rId5" Target="../media/image3.svg" Type="http://schemas.openxmlformats.org/officeDocument/2006/relationships/image"/><Relationship Id="rId6" Target="../media/image53.png" Type="http://schemas.openxmlformats.org/officeDocument/2006/relationships/image"/><Relationship Id="rId7" Target="../media/image54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2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1113977" y="-464261"/>
            <a:ext cx="7174023" cy="10751261"/>
          </a:xfrm>
          <a:custGeom>
            <a:avLst/>
            <a:gdLst/>
            <a:ahLst/>
            <a:cxnLst/>
            <a:rect r="r" b="b" t="t" l="l"/>
            <a:pathLst>
              <a:path h="10751261" w="7174023">
                <a:moveTo>
                  <a:pt x="0" y="0"/>
                </a:moveTo>
                <a:lnTo>
                  <a:pt x="7174023" y="0"/>
                </a:lnTo>
                <a:lnTo>
                  <a:pt x="7174023" y="10751261"/>
                </a:lnTo>
                <a:lnTo>
                  <a:pt x="0" y="1075126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0">
            <a:off x="0" y="0"/>
            <a:ext cx="7174023" cy="10519130"/>
          </a:xfrm>
          <a:custGeom>
            <a:avLst/>
            <a:gdLst/>
            <a:ahLst/>
            <a:cxnLst/>
            <a:rect r="r" b="b" t="t" l="l"/>
            <a:pathLst>
              <a:path h="10519130" w="7174023">
                <a:moveTo>
                  <a:pt x="7174023" y="0"/>
                </a:moveTo>
                <a:lnTo>
                  <a:pt x="0" y="0"/>
                </a:lnTo>
                <a:lnTo>
                  <a:pt x="0" y="10519130"/>
                </a:lnTo>
                <a:lnTo>
                  <a:pt x="7174023" y="10519130"/>
                </a:lnTo>
                <a:lnTo>
                  <a:pt x="7174023" y="0"/>
                </a:lnTo>
                <a:close/>
              </a:path>
            </a:pathLst>
          </a:custGeom>
          <a:blipFill>
            <a:blip r:embed="rId3"/>
            <a:stretch>
              <a:fillRect l="0" t="-2206" r="0" b="0"/>
            </a:stretch>
          </a:blipFill>
        </p:spPr>
      </p:sp>
      <p:sp>
        <p:nvSpPr>
          <p:cNvPr name="AutoShape 4" id="4"/>
          <p:cNvSpPr/>
          <p:nvPr/>
        </p:nvSpPr>
        <p:spPr>
          <a:xfrm>
            <a:off x="7274113" y="7937545"/>
            <a:ext cx="3739773" cy="0"/>
          </a:xfrm>
          <a:prstGeom prst="line">
            <a:avLst/>
          </a:prstGeom>
          <a:ln cap="flat" w="9525">
            <a:solidFill>
              <a:srgbClr val="000000"/>
            </a:solidFill>
            <a:prstDash val="solid"/>
            <a:headEnd type="oval" len="lg" w="lg"/>
            <a:tailEnd type="oval" len="lg" w="lg"/>
          </a:ln>
        </p:spPr>
      </p:sp>
      <p:sp>
        <p:nvSpPr>
          <p:cNvPr name="Freeform 5" id="5"/>
          <p:cNvSpPr/>
          <p:nvPr/>
        </p:nvSpPr>
        <p:spPr>
          <a:xfrm flipH="false" flipV="false" rot="0">
            <a:off x="4334776" y="0"/>
            <a:ext cx="1099774" cy="4114800"/>
          </a:xfrm>
          <a:custGeom>
            <a:avLst/>
            <a:gdLst/>
            <a:ahLst/>
            <a:cxnLst/>
            <a:rect r="r" b="b" t="t" l="l"/>
            <a:pathLst>
              <a:path h="4114800" w="1099774">
                <a:moveTo>
                  <a:pt x="0" y="0"/>
                </a:moveTo>
                <a:lnTo>
                  <a:pt x="1099774" y="0"/>
                </a:lnTo>
                <a:lnTo>
                  <a:pt x="1099774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2839358" y="0"/>
            <a:ext cx="1099774" cy="4114800"/>
          </a:xfrm>
          <a:custGeom>
            <a:avLst/>
            <a:gdLst/>
            <a:ahLst/>
            <a:cxnLst/>
            <a:rect r="r" b="b" t="t" l="l"/>
            <a:pathLst>
              <a:path h="4114800" w="1099774">
                <a:moveTo>
                  <a:pt x="0" y="0"/>
                </a:moveTo>
                <a:lnTo>
                  <a:pt x="1099773" y="0"/>
                </a:lnTo>
                <a:lnTo>
                  <a:pt x="1099773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4596404" y="3553219"/>
            <a:ext cx="9095192" cy="2190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8639"/>
              </a:lnSpc>
              <a:spcBef>
                <a:spcPct val="0"/>
              </a:spcBef>
            </a:pPr>
            <a:r>
              <a:rPr lang="en-US" b="true" sz="7199" strike="noStrike" u="none">
                <a:solidFill>
                  <a:srgbClr val="1C1C1C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智慧香爐</a:t>
            </a:r>
          </a:p>
          <a:p>
            <a:pPr algn="ctr" marL="0" indent="0" lvl="0">
              <a:lnSpc>
                <a:spcPts val="8639"/>
              </a:lnSpc>
              <a:spcBef>
                <a:spcPct val="0"/>
              </a:spcBef>
            </a:pPr>
            <a:r>
              <a:rPr lang="en-US" b="true" sz="7199" strike="noStrike" u="none">
                <a:solidFill>
                  <a:srgbClr val="1C1C1C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香照燒，煙不見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7274113" y="1036134"/>
            <a:ext cx="3750536" cy="12446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297"/>
              </a:lnSpc>
              <a:spcBef>
                <a:spcPct val="0"/>
              </a:spcBef>
            </a:pPr>
            <a:r>
              <a:rPr lang="en-US" b="true" sz="2748" strike="noStrike" u="none">
                <a:solidFill>
                  <a:srgbClr val="1C1C1C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WRO 2026 Future Innovators</a:t>
            </a:r>
          </a:p>
          <a:p>
            <a:pPr algn="ctr" marL="0" indent="0" lvl="0">
              <a:lnSpc>
                <a:spcPts val="3297"/>
              </a:lnSpc>
              <a:spcBef>
                <a:spcPct val="0"/>
              </a:spcBef>
            </a:pPr>
            <a:r>
              <a:rPr lang="en-US" b="true" sz="2748" strike="noStrike" u="none">
                <a:solidFill>
                  <a:srgbClr val="1C1C1C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Robots Meet Culture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6018429" y="6765017"/>
            <a:ext cx="6251143" cy="8058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240"/>
              </a:lnSpc>
              <a:spcBef>
                <a:spcPct val="0"/>
              </a:spcBef>
            </a:pPr>
            <a:r>
              <a:rPr lang="en-US" sz="1800" strike="noStrike" u="none">
                <a:solidFill>
                  <a:srgbClr val="545454"/>
                </a:solidFill>
                <a:latin typeface="Poppins Light"/>
                <a:ea typeface="Poppins Light"/>
                <a:cs typeface="Poppins Light"/>
                <a:sym typeface="Poppins Light"/>
              </a:rPr>
              <a:t>有拜有包庇｜高中職組</a:t>
            </a:r>
          </a:p>
          <a:p>
            <a:pPr algn="ctr" marL="0" indent="0" lvl="0">
              <a:lnSpc>
                <a:spcPts val="3240"/>
              </a:lnSpc>
              <a:spcBef>
                <a:spcPct val="0"/>
              </a:spcBef>
            </a:pPr>
            <a:r>
              <a:rPr lang="en-US" sz="1800" strike="noStrike" u="none">
                <a:solidFill>
                  <a:srgbClr val="545454"/>
                </a:solidFill>
                <a:latin typeface="Poppins Light"/>
                <a:ea typeface="Poppins Light"/>
                <a:cs typeface="Poppins Light"/>
                <a:sym typeface="Poppins Light"/>
              </a:rPr>
              <a:t>李承鴻・曾翊軒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018429" y="8178910"/>
            <a:ext cx="6251143" cy="3962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240"/>
              </a:lnSpc>
              <a:spcBef>
                <a:spcPct val="0"/>
              </a:spcBef>
            </a:pPr>
            <a:r>
              <a:rPr lang="en-US" sz="1800" strike="noStrike" u="none">
                <a:solidFill>
                  <a:srgbClr val="545454"/>
                </a:solidFill>
                <a:latin typeface="Poppins Light"/>
                <a:ea typeface="Poppins Light"/>
                <a:cs typeface="Poppins Light"/>
                <a:sym typeface="Poppins Light"/>
              </a:rPr>
              <a:t>指導：倪瑞鴻・高若瑋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2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230942" y="0"/>
            <a:ext cx="10369455" cy="10948466"/>
            <a:chOff x="0" y="0"/>
            <a:chExt cx="2731050" cy="288354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731050" cy="2883547"/>
            </a:xfrm>
            <a:custGeom>
              <a:avLst/>
              <a:gdLst/>
              <a:ahLst/>
              <a:cxnLst/>
              <a:rect r="r" b="b" t="t" l="l"/>
              <a:pathLst>
                <a:path h="2883547" w="2731050">
                  <a:moveTo>
                    <a:pt x="0" y="0"/>
                  </a:moveTo>
                  <a:lnTo>
                    <a:pt x="2731050" y="0"/>
                  </a:lnTo>
                  <a:lnTo>
                    <a:pt x="2731050" y="2883547"/>
                  </a:lnTo>
                  <a:lnTo>
                    <a:pt x="0" y="2883547"/>
                  </a:lnTo>
                  <a:close/>
                </a:path>
              </a:pathLst>
            </a:custGeom>
            <a:solidFill>
              <a:srgbClr val="CB7F67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123825"/>
              <a:ext cx="2731050" cy="300737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4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6137685" y="423436"/>
            <a:ext cx="2879311" cy="2516657"/>
            <a:chOff x="0" y="0"/>
            <a:chExt cx="1193135" cy="1042858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93135" cy="1042858"/>
            </a:xfrm>
            <a:custGeom>
              <a:avLst/>
              <a:gdLst/>
              <a:ahLst/>
              <a:cxnLst/>
              <a:rect r="r" b="b" t="t" l="l"/>
              <a:pathLst>
                <a:path h="1042858" w="1193135">
                  <a:moveTo>
                    <a:pt x="40332" y="0"/>
                  </a:moveTo>
                  <a:lnTo>
                    <a:pt x="1152803" y="0"/>
                  </a:lnTo>
                  <a:cubicBezTo>
                    <a:pt x="1175078" y="0"/>
                    <a:pt x="1193135" y="18057"/>
                    <a:pt x="1193135" y="40332"/>
                  </a:cubicBezTo>
                  <a:lnTo>
                    <a:pt x="1193135" y="1002526"/>
                  </a:lnTo>
                  <a:cubicBezTo>
                    <a:pt x="1193135" y="1013222"/>
                    <a:pt x="1188886" y="1023481"/>
                    <a:pt x="1181322" y="1031045"/>
                  </a:cubicBezTo>
                  <a:cubicBezTo>
                    <a:pt x="1173758" y="1038609"/>
                    <a:pt x="1163500" y="1042858"/>
                    <a:pt x="1152803" y="1042858"/>
                  </a:cubicBezTo>
                  <a:lnTo>
                    <a:pt x="40332" y="1042858"/>
                  </a:lnTo>
                  <a:cubicBezTo>
                    <a:pt x="29635" y="1042858"/>
                    <a:pt x="19377" y="1038609"/>
                    <a:pt x="11813" y="1031045"/>
                  </a:cubicBezTo>
                  <a:cubicBezTo>
                    <a:pt x="4249" y="1023481"/>
                    <a:pt x="0" y="1013222"/>
                    <a:pt x="0" y="1002526"/>
                  </a:cubicBezTo>
                  <a:lnTo>
                    <a:pt x="0" y="40332"/>
                  </a:lnTo>
                  <a:cubicBezTo>
                    <a:pt x="0" y="29635"/>
                    <a:pt x="4249" y="19377"/>
                    <a:pt x="11813" y="11813"/>
                  </a:cubicBezTo>
                  <a:cubicBezTo>
                    <a:pt x="19377" y="4249"/>
                    <a:pt x="29635" y="0"/>
                    <a:pt x="40332" y="0"/>
                  </a:cubicBezTo>
                  <a:close/>
                </a:path>
              </a:pathLst>
            </a:custGeom>
            <a:blipFill>
              <a:blip r:embed="rId3"/>
              <a:stretch>
                <a:fillRect l="-4225" t="0" r="-12314" b="0"/>
              </a:stretch>
            </a:blipFill>
          </p:spPr>
        </p:sp>
      </p:grpSp>
      <p:sp>
        <p:nvSpPr>
          <p:cNvPr name="Freeform 7" id="7"/>
          <p:cNvSpPr/>
          <p:nvPr/>
        </p:nvSpPr>
        <p:spPr>
          <a:xfrm flipH="false" flipV="false" rot="0">
            <a:off x="11920870" y="7880073"/>
            <a:ext cx="7140707" cy="2583638"/>
          </a:xfrm>
          <a:custGeom>
            <a:avLst/>
            <a:gdLst/>
            <a:ahLst/>
            <a:cxnLst/>
            <a:rect r="r" b="b" t="t" l="l"/>
            <a:pathLst>
              <a:path h="2583638" w="7140707">
                <a:moveTo>
                  <a:pt x="0" y="0"/>
                </a:moveTo>
                <a:lnTo>
                  <a:pt x="7140707" y="0"/>
                </a:lnTo>
                <a:lnTo>
                  <a:pt x="7140707" y="2583638"/>
                </a:lnTo>
                <a:lnTo>
                  <a:pt x="0" y="25836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0877424" y="2930568"/>
            <a:ext cx="6116450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720"/>
              </a:lnSpc>
              <a:spcBef>
                <a:spcPct val="0"/>
              </a:spcBef>
            </a:pPr>
            <a:r>
              <a:rPr lang="en-US" b="true" sz="5600" strike="noStrike" u="none">
                <a:solidFill>
                  <a:srgbClr val="1C1C1C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一支香，讓殿內 PM2.5 逼近 1,360</a:t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16709413" y="0"/>
            <a:ext cx="1099774" cy="4114800"/>
          </a:xfrm>
          <a:custGeom>
            <a:avLst/>
            <a:gdLst/>
            <a:ahLst/>
            <a:cxnLst/>
            <a:rect r="r" b="b" t="t" l="l"/>
            <a:pathLst>
              <a:path h="4114800" w="1099774">
                <a:moveTo>
                  <a:pt x="0" y="0"/>
                </a:moveTo>
                <a:lnTo>
                  <a:pt x="1099774" y="0"/>
                </a:lnTo>
                <a:lnTo>
                  <a:pt x="1099774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028700" y="6753236"/>
            <a:ext cx="1935731" cy="2505064"/>
          </a:xfrm>
          <a:custGeom>
            <a:avLst/>
            <a:gdLst/>
            <a:ahLst/>
            <a:cxnLst/>
            <a:rect r="r" b="b" t="t" l="l"/>
            <a:pathLst>
              <a:path h="2505064" w="1935731">
                <a:moveTo>
                  <a:pt x="0" y="0"/>
                </a:moveTo>
                <a:lnTo>
                  <a:pt x="1935731" y="0"/>
                </a:lnTo>
                <a:lnTo>
                  <a:pt x="1935731" y="2505064"/>
                </a:lnTo>
                <a:lnTo>
                  <a:pt x="0" y="2505064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3101289" y="3303085"/>
            <a:ext cx="6517518" cy="4342296"/>
          </a:xfrm>
          <a:custGeom>
            <a:avLst/>
            <a:gdLst/>
            <a:ahLst/>
            <a:cxnLst/>
            <a:rect r="r" b="b" t="t" l="l"/>
            <a:pathLst>
              <a:path h="4342296" w="6517518">
                <a:moveTo>
                  <a:pt x="0" y="0"/>
                </a:moveTo>
                <a:lnTo>
                  <a:pt x="6517518" y="0"/>
                </a:lnTo>
                <a:lnTo>
                  <a:pt x="6517518" y="4342296"/>
                </a:lnTo>
                <a:lnTo>
                  <a:pt x="0" y="434229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10877424" y="5748655"/>
            <a:ext cx="6381876" cy="21507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18158" indent="-259079" lvl="1">
              <a:lnSpc>
                <a:spcPts val="4319"/>
              </a:lnSpc>
              <a:buFont typeface="Arial"/>
              <a:buChar char="•"/>
            </a:pPr>
            <a:r>
              <a:rPr lang="en-US" b="true" sz="2399" strike="noStrike" u="none">
                <a:solidFill>
                  <a:srgbClr val="545454"/>
                </a:solidFill>
                <a:latin typeface="Poppins Bold"/>
                <a:ea typeface="Poppins Bold"/>
                <a:cs typeface="Poppins Bold"/>
                <a:sym typeface="Poppins Bold"/>
              </a:rPr>
              <a:t>1,360 µg/m³ 峰值｜約為戶外 50 倍</a:t>
            </a:r>
          </a:p>
          <a:p>
            <a:pPr algn="l" marL="518158" indent="-259079" lvl="1">
              <a:lnSpc>
                <a:spcPts val="4319"/>
              </a:lnSpc>
              <a:buFont typeface="Arial"/>
              <a:buChar char="•"/>
            </a:pPr>
            <a:r>
              <a:rPr lang="en-US" b="true" sz="2399" strike="noStrike" u="none">
                <a:solidFill>
                  <a:srgbClr val="545454"/>
                </a:solidFill>
                <a:latin typeface="Poppins Bold"/>
                <a:ea typeface="Poppins Bold"/>
                <a:cs typeface="Poppins Bold"/>
                <a:sym typeface="Poppins Bold"/>
              </a:rPr>
              <a:t>97.0 ± 65.4 µg/m³ 平均</a:t>
            </a:r>
          </a:p>
          <a:p>
            <a:pPr algn="l" marL="518158" indent="-259079" lvl="1">
              <a:lnSpc>
                <a:spcPts val="4319"/>
              </a:lnSpc>
              <a:buFont typeface="Arial"/>
              <a:buChar char="•"/>
            </a:pPr>
            <a:r>
              <a:rPr lang="en-US" b="true" sz="2399" strike="noStrike" u="none">
                <a:solidFill>
                  <a:srgbClr val="545454"/>
                </a:solidFill>
                <a:latin typeface="Poppins Bold"/>
                <a:ea typeface="Poppins Bold"/>
                <a:cs typeface="Poppins Bold"/>
                <a:sym typeface="Poppins Bold"/>
              </a:rPr>
              <a:t>呼吸道鱗狀細胞癌風險 1.8 倍</a:t>
            </a:r>
          </a:p>
          <a:p>
            <a:pPr algn="l" marL="518158" indent="-259079" lvl="1">
              <a:lnSpc>
                <a:spcPts val="4319"/>
              </a:lnSpc>
              <a:buFont typeface="Arial"/>
              <a:buChar char="•"/>
            </a:pPr>
            <a:r>
              <a:rPr lang="en-US" b="true" sz="2399" strike="noStrike" u="none">
                <a:solidFill>
                  <a:srgbClr val="545454"/>
                </a:solidFill>
                <a:latin typeface="Poppins Bold"/>
                <a:ea typeface="Poppins Bold"/>
                <a:cs typeface="Poppins Bold"/>
                <a:sym typeface="Poppins Bold"/>
              </a:rPr>
              <a:t>印度教＋佛教信眾逾 17 億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2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231916" y="6341704"/>
            <a:ext cx="18678666" cy="4285528"/>
            <a:chOff x="0" y="0"/>
            <a:chExt cx="4919484" cy="112869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919484" cy="1128699"/>
            </a:xfrm>
            <a:custGeom>
              <a:avLst/>
              <a:gdLst/>
              <a:ahLst/>
              <a:cxnLst/>
              <a:rect r="r" b="b" t="t" l="l"/>
              <a:pathLst>
                <a:path h="1128699" w="4919484">
                  <a:moveTo>
                    <a:pt x="0" y="0"/>
                  </a:moveTo>
                  <a:lnTo>
                    <a:pt x="4919484" y="0"/>
                  </a:lnTo>
                  <a:lnTo>
                    <a:pt x="4919484" y="1128699"/>
                  </a:lnTo>
                  <a:lnTo>
                    <a:pt x="0" y="1128699"/>
                  </a:lnTo>
                  <a:close/>
                </a:path>
              </a:pathLst>
            </a:custGeom>
            <a:solidFill>
              <a:srgbClr val="CB7F67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123825"/>
              <a:ext cx="4919484" cy="12525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40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5991193" y="6172200"/>
            <a:ext cx="2536213" cy="4114800"/>
          </a:xfrm>
          <a:custGeom>
            <a:avLst/>
            <a:gdLst/>
            <a:ahLst/>
            <a:cxnLst/>
            <a:rect r="r" b="b" t="t" l="l"/>
            <a:pathLst>
              <a:path h="4114800" w="2536213">
                <a:moveTo>
                  <a:pt x="0" y="0"/>
                </a:moveTo>
                <a:lnTo>
                  <a:pt x="2536214" y="0"/>
                </a:lnTo>
                <a:lnTo>
                  <a:pt x="2536214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159088" y="6954663"/>
            <a:ext cx="898312" cy="898312"/>
          </a:xfrm>
          <a:custGeom>
            <a:avLst/>
            <a:gdLst/>
            <a:ahLst/>
            <a:cxnLst/>
            <a:rect r="r" b="b" t="t" l="l"/>
            <a:pathLst>
              <a:path h="898312" w="898312">
                <a:moveTo>
                  <a:pt x="0" y="0"/>
                </a:moveTo>
                <a:lnTo>
                  <a:pt x="898312" y="0"/>
                </a:lnTo>
                <a:lnTo>
                  <a:pt x="898312" y="898312"/>
                </a:lnTo>
                <a:lnTo>
                  <a:pt x="0" y="89831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5215761" y="6954663"/>
            <a:ext cx="898312" cy="898312"/>
          </a:xfrm>
          <a:custGeom>
            <a:avLst/>
            <a:gdLst/>
            <a:ahLst/>
            <a:cxnLst/>
            <a:rect r="r" b="b" t="t" l="l"/>
            <a:pathLst>
              <a:path h="898312" w="898312">
                <a:moveTo>
                  <a:pt x="0" y="0"/>
                </a:moveTo>
                <a:lnTo>
                  <a:pt x="898312" y="0"/>
                </a:lnTo>
                <a:lnTo>
                  <a:pt x="898312" y="898312"/>
                </a:lnTo>
                <a:lnTo>
                  <a:pt x="0" y="89831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9490747" y="6954663"/>
            <a:ext cx="898312" cy="898312"/>
          </a:xfrm>
          <a:custGeom>
            <a:avLst/>
            <a:gdLst/>
            <a:ahLst/>
            <a:cxnLst/>
            <a:rect r="r" b="b" t="t" l="l"/>
            <a:pathLst>
              <a:path h="898312" w="898312">
                <a:moveTo>
                  <a:pt x="0" y="0"/>
                </a:moveTo>
                <a:lnTo>
                  <a:pt x="898312" y="0"/>
                </a:lnTo>
                <a:lnTo>
                  <a:pt x="898312" y="898312"/>
                </a:lnTo>
                <a:lnTo>
                  <a:pt x="0" y="89831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3689284" y="6954663"/>
            <a:ext cx="898312" cy="898312"/>
          </a:xfrm>
          <a:custGeom>
            <a:avLst/>
            <a:gdLst/>
            <a:ahLst/>
            <a:cxnLst/>
            <a:rect r="r" b="b" t="t" l="l"/>
            <a:pathLst>
              <a:path h="898312" w="898312">
                <a:moveTo>
                  <a:pt x="0" y="0"/>
                </a:moveTo>
                <a:lnTo>
                  <a:pt x="898312" y="0"/>
                </a:lnTo>
                <a:lnTo>
                  <a:pt x="898312" y="898312"/>
                </a:lnTo>
                <a:lnTo>
                  <a:pt x="0" y="89831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4203176" y="4958910"/>
            <a:ext cx="3821795" cy="1382795"/>
          </a:xfrm>
          <a:custGeom>
            <a:avLst/>
            <a:gdLst/>
            <a:ahLst/>
            <a:cxnLst/>
            <a:rect r="r" b="b" t="t" l="l"/>
            <a:pathLst>
              <a:path h="1382795" w="3821795">
                <a:moveTo>
                  <a:pt x="0" y="0"/>
                </a:moveTo>
                <a:lnTo>
                  <a:pt x="3821795" y="0"/>
                </a:lnTo>
                <a:lnTo>
                  <a:pt x="3821795" y="1382794"/>
                </a:lnTo>
                <a:lnTo>
                  <a:pt x="0" y="138279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7725577" y="651335"/>
            <a:ext cx="10246659" cy="3898000"/>
          </a:xfrm>
          <a:custGeom>
            <a:avLst/>
            <a:gdLst/>
            <a:ahLst/>
            <a:cxnLst/>
            <a:rect r="r" b="b" t="t" l="l"/>
            <a:pathLst>
              <a:path h="3898000" w="10246659">
                <a:moveTo>
                  <a:pt x="0" y="0"/>
                </a:moveTo>
                <a:lnTo>
                  <a:pt x="10246659" y="0"/>
                </a:lnTo>
                <a:lnTo>
                  <a:pt x="10246659" y="3898000"/>
                </a:lnTo>
                <a:lnTo>
                  <a:pt x="0" y="389800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9490747" y="7981548"/>
            <a:ext cx="4063094" cy="10648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320"/>
              </a:lnSpc>
              <a:spcBef>
                <a:spcPct val="0"/>
              </a:spcBef>
            </a:pPr>
            <a:r>
              <a:rPr lang="en-US" sz="2400" strike="noStrike" u="none">
                <a:solidFill>
                  <a:srgbClr val="1C1C1C"/>
                </a:solidFill>
                <a:latin typeface="Poppins Light"/>
                <a:ea typeface="Poppins Light"/>
                <a:cs typeface="Poppins Light"/>
                <a:sym typeface="Poppins Light"/>
              </a:rPr>
              <a:t>生計｜</a:t>
            </a:r>
          </a:p>
          <a:p>
            <a:pPr algn="l" marL="0" indent="0" lvl="0">
              <a:lnSpc>
                <a:spcPts val="4320"/>
              </a:lnSpc>
              <a:spcBef>
                <a:spcPct val="0"/>
              </a:spcBef>
            </a:pPr>
            <a:r>
              <a:rPr lang="en-US" sz="2400" strike="noStrike" u="none">
                <a:solidFill>
                  <a:srgbClr val="1C1C1C"/>
                </a:solidFill>
                <a:latin typeface="Poppins Light"/>
                <a:ea typeface="Poppins Light"/>
                <a:cs typeface="Poppins Light"/>
                <a:sym typeface="Poppins Light"/>
              </a:rPr>
              <a:t>印度手工捲香 40–200 萬人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11170109" y="6755604"/>
            <a:ext cx="1678798" cy="1673055"/>
            <a:chOff x="0" y="0"/>
            <a:chExt cx="4323592" cy="4308801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4323592" cy="4308801"/>
            </a:xfrm>
            <a:custGeom>
              <a:avLst/>
              <a:gdLst/>
              <a:ahLst/>
              <a:cxnLst/>
              <a:rect r="r" b="b" t="t" l="l"/>
              <a:pathLst>
                <a:path h="4308801" w="4323592">
                  <a:moveTo>
                    <a:pt x="69174" y="0"/>
                  </a:moveTo>
                  <a:lnTo>
                    <a:pt x="4254418" y="0"/>
                  </a:lnTo>
                  <a:cubicBezTo>
                    <a:pt x="4272764" y="0"/>
                    <a:pt x="4290358" y="7288"/>
                    <a:pt x="4303331" y="20261"/>
                  </a:cubicBezTo>
                  <a:cubicBezTo>
                    <a:pt x="4316304" y="33233"/>
                    <a:pt x="4323592" y="50828"/>
                    <a:pt x="4323592" y="69174"/>
                  </a:cubicBezTo>
                  <a:lnTo>
                    <a:pt x="4323592" y="4239627"/>
                  </a:lnTo>
                  <a:cubicBezTo>
                    <a:pt x="4323592" y="4257973"/>
                    <a:pt x="4316304" y="4275568"/>
                    <a:pt x="4303331" y="4288541"/>
                  </a:cubicBezTo>
                  <a:cubicBezTo>
                    <a:pt x="4290358" y="4301513"/>
                    <a:pt x="4272764" y="4308801"/>
                    <a:pt x="4254418" y="4308801"/>
                  </a:cubicBezTo>
                  <a:lnTo>
                    <a:pt x="69174" y="4308801"/>
                  </a:lnTo>
                  <a:cubicBezTo>
                    <a:pt x="50828" y="4308801"/>
                    <a:pt x="33233" y="4301513"/>
                    <a:pt x="20261" y="4288541"/>
                  </a:cubicBezTo>
                  <a:cubicBezTo>
                    <a:pt x="7288" y="4275568"/>
                    <a:pt x="0" y="4257973"/>
                    <a:pt x="0" y="4239627"/>
                  </a:cubicBezTo>
                  <a:lnTo>
                    <a:pt x="0" y="69174"/>
                  </a:lnTo>
                  <a:cubicBezTo>
                    <a:pt x="0" y="50828"/>
                    <a:pt x="7288" y="33233"/>
                    <a:pt x="20261" y="20261"/>
                  </a:cubicBezTo>
                  <a:cubicBezTo>
                    <a:pt x="33233" y="7288"/>
                    <a:pt x="50828" y="0"/>
                    <a:pt x="69174" y="0"/>
                  </a:cubicBezTo>
                  <a:close/>
                </a:path>
              </a:pathLst>
            </a:custGeom>
            <a:blipFill>
              <a:blip r:embed="rId10"/>
              <a:stretch>
                <a:fillRect l="-19206" t="0" r="-19206" b="0"/>
              </a:stretch>
            </a:blipFill>
          </p:spPr>
        </p:sp>
      </p:grpSp>
      <p:sp>
        <p:nvSpPr>
          <p:cNvPr name="Freeform 15" id="15"/>
          <p:cNvSpPr/>
          <p:nvPr/>
        </p:nvSpPr>
        <p:spPr>
          <a:xfrm flipH="false" flipV="false" rot="0">
            <a:off x="2272369" y="6820523"/>
            <a:ext cx="1543217" cy="1543217"/>
          </a:xfrm>
          <a:custGeom>
            <a:avLst/>
            <a:gdLst/>
            <a:ahLst/>
            <a:cxnLst/>
            <a:rect r="r" b="b" t="t" l="l"/>
            <a:pathLst>
              <a:path h="1543217" w="1543217">
                <a:moveTo>
                  <a:pt x="0" y="0"/>
                </a:moveTo>
                <a:lnTo>
                  <a:pt x="1543217" y="0"/>
                </a:lnTo>
                <a:lnTo>
                  <a:pt x="1543217" y="1543217"/>
                </a:lnTo>
                <a:lnTo>
                  <a:pt x="0" y="1543217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1028700" y="1454729"/>
            <a:ext cx="6378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720"/>
              </a:lnSpc>
              <a:spcBef>
                <a:spcPct val="0"/>
              </a:spcBef>
            </a:pPr>
            <a:r>
              <a:rPr lang="en-US" b="true" sz="5600" strike="noStrike" u="none">
                <a:solidFill>
                  <a:srgbClr val="1C1C1C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禁香解決污染，卻犧牲信仰與生計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014133" y="7981548"/>
            <a:ext cx="3804584" cy="10648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320"/>
              </a:lnSpc>
              <a:spcBef>
                <a:spcPct val="0"/>
              </a:spcBef>
            </a:pPr>
            <a:r>
              <a:rPr lang="en-US" sz="2400" strike="noStrike" u="none">
                <a:solidFill>
                  <a:srgbClr val="1C1C1C"/>
                </a:solidFill>
                <a:latin typeface="Poppins Light"/>
                <a:ea typeface="Poppins Light"/>
                <a:cs typeface="Poppins Light"/>
                <a:sym typeface="Poppins Light"/>
              </a:rPr>
              <a:t>健康｜</a:t>
            </a:r>
          </a:p>
          <a:p>
            <a:pPr algn="l" marL="0" indent="0" lvl="0">
              <a:lnSpc>
                <a:spcPts val="4320"/>
              </a:lnSpc>
              <a:spcBef>
                <a:spcPct val="0"/>
              </a:spcBef>
            </a:pPr>
            <a:r>
              <a:rPr lang="en-US" sz="2400" strike="noStrike" u="none">
                <a:solidFill>
                  <a:srgbClr val="1C1C1C"/>
                </a:solidFill>
                <a:latin typeface="Poppins Light"/>
                <a:ea typeface="Poppins Light"/>
                <a:cs typeface="Poppins Light"/>
                <a:sym typeface="Poppins Light"/>
              </a:rPr>
              <a:t>SDGs 與法規壓力只增不減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5215761" y="7981548"/>
            <a:ext cx="3439628" cy="10648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320"/>
              </a:lnSpc>
              <a:spcBef>
                <a:spcPct val="0"/>
              </a:spcBef>
            </a:pPr>
            <a:r>
              <a:rPr lang="en-US" sz="2400" strike="noStrike" u="none">
                <a:solidFill>
                  <a:srgbClr val="1C1C1C"/>
                </a:solidFill>
                <a:latin typeface="Poppins Light"/>
                <a:ea typeface="Poppins Light"/>
                <a:cs typeface="Poppins Light"/>
                <a:sym typeface="Poppins Light"/>
              </a:rPr>
              <a:t>信仰｜</a:t>
            </a:r>
          </a:p>
          <a:p>
            <a:pPr algn="l" marL="0" indent="0" lvl="0">
              <a:lnSpc>
                <a:spcPts val="4320"/>
              </a:lnSpc>
              <a:spcBef>
                <a:spcPct val="0"/>
              </a:spcBef>
            </a:pPr>
            <a:r>
              <a:rPr lang="en-US" sz="2400" strike="noStrike" u="none">
                <a:solidFill>
                  <a:srgbClr val="1C1C1C"/>
                </a:solidFill>
                <a:latin typeface="Poppins Light"/>
                <a:ea typeface="Poppins Light"/>
                <a:cs typeface="Poppins Light"/>
                <a:sym typeface="Poppins Light"/>
              </a:rPr>
              <a:t>2017 台灣逾 1 萬人上街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159088" y="3115883"/>
            <a:ext cx="5906506" cy="4705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59"/>
              </a:lnSpc>
              <a:spcBef>
                <a:spcPct val="0"/>
              </a:spcBef>
            </a:pPr>
            <a:r>
              <a:rPr lang="en-US" sz="2199" strike="noStrike" u="none">
                <a:solidFill>
                  <a:srgbClr val="545454"/>
                </a:solidFill>
                <a:latin typeface="Poppins Light"/>
                <a:ea typeface="Poppins Light"/>
                <a:cs typeface="Poppins Light"/>
                <a:sym typeface="Poppins Light"/>
              </a:rPr>
              <a:t>禁香不只是環保決策，也會碰到文化與生計。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3689284" y="7981548"/>
            <a:ext cx="3439628" cy="10648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320"/>
              </a:lnSpc>
              <a:spcBef>
                <a:spcPct val="0"/>
              </a:spcBef>
            </a:pPr>
            <a:r>
              <a:rPr lang="en-US" sz="2400" strike="noStrike" u="none">
                <a:solidFill>
                  <a:srgbClr val="1C1C1C"/>
                </a:solidFill>
                <a:latin typeface="Poppins Light"/>
                <a:ea typeface="Poppins Light"/>
                <a:cs typeface="Poppins Light"/>
                <a:sym typeface="Poppins Light"/>
              </a:rPr>
              <a:t>結論｜</a:t>
            </a:r>
          </a:p>
          <a:p>
            <a:pPr algn="l" marL="0" indent="0" lvl="0">
              <a:lnSpc>
                <a:spcPts val="4320"/>
              </a:lnSpc>
              <a:spcBef>
                <a:spcPct val="0"/>
              </a:spcBef>
            </a:pPr>
            <a:r>
              <a:rPr lang="en-US" sz="2400" strike="noStrike" u="none">
                <a:solidFill>
                  <a:srgbClr val="1C1C1C"/>
                </a:solidFill>
                <a:latin typeface="Poppins Light"/>
                <a:ea typeface="Poppins Light"/>
                <a:cs typeface="Poppins Light"/>
                <a:sym typeface="Poppins Light"/>
              </a:rPr>
              <a:t>不接受健康與信仰二選一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2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921870" y="0"/>
            <a:ext cx="11859763" cy="11764397"/>
            <a:chOff x="0" y="0"/>
            <a:chExt cx="3123559" cy="309844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123559" cy="3098442"/>
            </a:xfrm>
            <a:custGeom>
              <a:avLst/>
              <a:gdLst/>
              <a:ahLst/>
              <a:cxnLst/>
              <a:rect r="r" b="b" t="t" l="l"/>
              <a:pathLst>
                <a:path h="3098442" w="3123559">
                  <a:moveTo>
                    <a:pt x="0" y="0"/>
                  </a:moveTo>
                  <a:lnTo>
                    <a:pt x="3123559" y="0"/>
                  </a:lnTo>
                  <a:lnTo>
                    <a:pt x="3123559" y="3098442"/>
                  </a:lnTo>
                  <a:lnTo>
                    <a:pt x="0" y="3098442"/>
                  </a:lnTo>
                  <a:close/>
                </a:path>
              </a:pathLst>
            </a:custGeom>
            <a:solidFill>
              <a:srgbClr val="CB7F67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123825"/>
              <a:ext cx="3123559" cy="322226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40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0690809" y="8040234"/>
            <a:ext cx="2833103" cy="2985070"/>
          </a:xfrm>
          <a:custGeom>
            <a:avLst/>
            <a:gdLst/>
            <a:ahLst/>
            <a:cxnLst/>
            <a:rect r="r" b="b" t="t" l="l"/>
            <a:pathLst>
              <a:path h="2985070" w="2833103">
                <a:moveTo>
                  <a:pt x="0" y="0"/>
                </a:moveTo>
                <a:lnTo>
                  <a:pt x="2833103" y="0"/>
                </a:lnTo>
                <a:lnTo>
                  <a:pt x="2833103" y="2985070"/>
                </a:lnTo>
                <a:lnTo>
                  <a:pt x="0" y="298507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4754147" y="1129224"/>
            <a:ext cx="2799595" cy="1369257"/>
          </a:xfrm>
          <a:custGeom>
            <a:avLst/>
            <a:gdLst/>
            <a:ahLst/>
            <a:cxnLst/>
            <a:rect r="r" b="b" t="t" l="l"/>
            <a:pathLst>
              <a:path h="1369257" w="2799595">
                <a:moveTo>
                  <a:pt x="0" y="0"/>
                </a:moveTo>
                <a:lnTo>
                  <a:pt x="2799595" y="0"/>
                </a:lnTo>
                <a:lnTo>
                  <a:pt x="2799595" y="1369257"/>
                </a:lnTo>
                <a:lnTo>
                  <a:pt x="0" y="136925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-9915185">
            <a:off x="3343136" y="565725"/>
            <a:ext cx="1893206" cy="925950"/>
          </a:xfrm>
          <a:custGeom>
            <a:avLst/>
            <a:gdLst/>
            <a:ahLst/>
            <a:cxnLst/>
            <a:rect r="r" b="b" t="t" l="l"/>
            <a:pathLst>
              <a:path h="925950" w="1893206">
                <a:moveTo>
                  <a:pt x="0" y="0"/>
                </a:moveTo>
                <a:lnTo>
                  <a:pt x="1893206" y="0"/>
                </a:lnTo>
                <a:lnTo>
                  <a:pt x="1893206" y="925950"/>
                </a:lnTo>
                <a:lnTo>
                  <a:pt x="0" y="92595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10635277">
            <a:off x="355204" y="257999"/>
            <a:ext cx="2334205" cy="1141638"/>
          </a:xfrm>
          <a:custGeom>
            <a:avLst/>
            <a:gdLst/>
            <a:ahLst/>
            <a:cxnLst/>
            <a:rect r="r" b="b" t="t" l="l"/>
            <a:pathLst>
              <a:path h="1141638" w="2334205">
                <a:moveTo>
                  <a:pt x="0" y="0"/>
                </a:moveTo>
                <a:lnTo>
                  <a:pt x="2334204" y="0"/>
                </a:lnTo>
                <a:lnTo>
                  <a:pt x="2334204" y="1141638"/>
                </a:lnTo>
                <a:lnTo>
                  <a:pt x="0" y="1141638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471652" y="1813853"/>
            <a:ext cx="5569631" cy="3713087"/>
          </a:xfrm>
          <a:custGeom>
            <a:avLst/>
            <a:gdLst/>
            <a:ahLst/>
            <a:cxnLst/>
            <a:rect r="r" b="b" t="t" l="l"/>
            <a:pathLst>
              <a:path h="3713087" w="5569631">
                <a:moveTo>
                  <a:pt x="0" y="0"/>
                </a:moveTo>
                <a:lnTo>
                  <a:pt x="5569631" y="0"/>
                </a:lnTo>
                <a:lnTo>
                  <a:pt x="5569631" y="3713087"/>
                </a:lnTo>
                <a:lnTo>
                  <a:pt x="0" y="371308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5456039" y="4217958"/>
            <a:ext cx="4990285" cy="3328481"/>
          </a:xfrm>
          <a:custGeom>
            <a:avLst/>
            <a:gdLst/>
            <a:ahLst/>
            <a:cxnLst/>
            <a:rect r="r" b="b" t="t" l="l"/>
            <a:pathLst>
              <a:path h="3328481" w="4990285">
                <a:moveTo>
                  <a:pt x="0" y="0"/>
                </a:moveTo>
                <a:lnTo>
                  <a:pt x="4990285" y="0"/>
                </a:lnTo>
                <a:lnTo>
                  <a:pt x="4990285" y="3328481"/>
                </a:lnTo>
                <a:lnTo>
                  <a:pt x="0" y="3328481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806472" y="6404635"/>
            <a:ext cx="4899991" cy="3271198"/>
          </a:xfrm>
          <a:custGeom>
            <a:avLst/>
            <a:gdLst/>
            <a:ahLst/>
            <a:cxnLst/>
            <a:rect r="r" b="b" t="t" l="l"/>
            <a:pathLst>
              <a:path h="3271198" w="4899991">
                <a:moveTo>
                  <a:pt x="0" y="0"/>
                </a:moveTo>
                <a:lnTo>
                  <a:pt x="4899991" y="0"/>
                </a:lnTo>
                <a:lnTo>
                  <a:pt x="4899991" y="3271198"/>
                </a:lnTo>
                <a:lnTo>
                  <a:pt x="0" y="327119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11851200" y="3253675"/>
            <a:ext cx="5408100" cy="2552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720"/>
              </a:lnSpc>
              <a:spcBef>
                <a:spcPct val="0"/>
              </a:spcBef>
            </a:pPr>
            <a:r>
              <a:rPr lang="en-US" b="true" sz="5600" strike="noStrike" u="none">
                <a:solidFill>
                  <a:srgbClr val="1C1C1C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這不是單一廟宇問題，而是逾 17 億人的共同痛點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2515938" y="6161904"/>
            <a:ext cx="5037804" cy="18783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53390" indent="-226695" lvl="1">
              <a:lnSpc>
                <a:spcPts val="3780"/>
              </a:lnSpc>
              <a:buFont typeface="Arial"/>
              <a:buChar char="•"/>
            </a:pPr>
            <a:r>
              <a:rPr lang="en-US" b="true" sz="2100" strike="noStrike" u="none">
                <a:solidFill>
                  <a:srgbClr val="545454"/>
                </a:solidFill>
                <a:latin typeface="Poppins Bold"/>
                <a:ea typeface="Poppins Bold"/>
                <a:cs typeface="Poppins Bold"/>
                <a:sym typeface="Poppins Bold"/>
              </a:rPr>
              <a:t>97.0 µg/m³ 平均｜1,360 µg/m³ 峰值</a:t>
            </a:r>
          </a:p>
          <a:p>
            <a:pPr algn="l" marL="453390" indent="-226695" lvl="1">
              <a:lnSpc>
                <a:spcPts val="3780"/>
              </a:lnSpc>
              <a:buFont typeface="Arial"/>
              <a:buChar char="•"/>
            </a:pPr>
            <a:r>
              <a:rPr lang="en-US" b="true" sz="2100" strike="noStrike" u="none">
                <a:solidFill>
                  <a:srgbClr val="545454"/>
                </a:solidFill>
                <a:latin typeface="Poppins Bold"/>
                <a:ea typeface="Poppins Bold"/>
                <a:cs typeface="Poppins Bold"/>
                <a:sym typeface="Poppins Bold"/>
              </a:rPr>
              <a:t>3,000+ 件宮廟空污陳情／年</a:t>
            </a:r>
          </a:p>
          <a:p>
            <a:pPr algn="l" marL="453390" indent="-226695" lvl="1">
              <a:lnSpc>
                <a:spcPts val="3780"/>
              </a:lnSpc>
              <a:buFont typeface="Arial"/>
              <a:buChar char="•"/>
            </a:pPr>
            <a:r>
              <a:rPr lang="en-US" b="true" sz="2100" strike="noStrike" u="none">
                <a:solidFill>
                  <a:srgbClr val="545454"/>
                </a:solidFill>
                <a:latin typeface="Poppins Bold"/>
                <a:ea typeface="Poppins Bold"/>
                <a:cs typeface="Poppins Bold"/>
                <a:sym typeface="Poppins Bold"/>
              </a:rPr>
              <a:t>2.1 萬公噸焚香／年</a:t>
            </a:r>
          </a:p>
          <a:p>
            <a:pPr algn="l" marL="453390" indent="-226695" lvl="1">
              <a:lnSpc>
                <a:spcPts val="3780"/>
              </a:lnSpc>
              <a:buFont typeface="Arial"/>
              <a:buChar char="•"/>
            </a:pPr>
            <a:r>
              <a:rPr lang="en-US" b="true" sz="2100" strike="noStrike" u="none">
                <a:solidFill>
                  <a:srgbClr val="545454"/>
                </a:solidFill>
                <a:latin typeface="Poppins Bold"/>
                <a:ea typeface="Poppins Bold"/>
                <a:cs typeface="Poppins Bold"/>
                <a:sym typeface="Poppins Bold"/>
              </a:rPr>
              <a:t>東南亞、印度可直接複製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2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630154" y="-514350"/>
            <a:ext cx="8880490" cy="10801350"/>
            <a:chOff x="0" y="0"/>
            <a:chExt cx="2338895" cy="2844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38895" cy="2844800"/>
            </a:xfrm>
            <a:custGeom>
              <a:avLst/>
              <a:gdLst/>
              <a:ahLst/>
              <a:cxnLst/>
              <a:rect r="r" b="b" t="t" l="l"/>
              <a:pathLst>
                <a:path h="2844800" w="2338895">
                  <a:moveTo>
                    <a:pt x="0" y="0"/>
                  </a:moveTo>
                  <a:lnTo>
                    <a:pt x="2338895" y="0"/>
                  </a:lnTo>
                  <a:lnTo>
                    <a:pt x="2338895" y="2844800"/>
                  </a:lnTo>
                  <a:lnTo>
                    <a:pt x="0" y="2844800"/>
                  </a:lnTo>
                  <a:close/>
                </a:path>
              </a:pathLst>
            </a:custGeom>
            <a:solidFill>
              <a:srgbClr val="CB7F67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123825"/>
              <a:ext cx="2338895" cy="29686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40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1242058" y="8371748"/>
            <a:ext cx="7315200" cy="1915252"/>
          </a:xfrm>
          <a:custGeom>
            <a:avLst/>
            <a:gdLst/>
            <a:ahLst/>
            <a:cxnLst/>
            <a:rect r="r" b="b" t="t" l="l"/>
            <a:pathLst>
              <a:path h="1915252" w="7315200">
                <a:moveTo>
                  <a:pt x="0" y="0"/>
                </a:moveTo>
                <a:lnTo>
                  <a:pt x="7315200" y="0"/>
                </a:lnTo>
                <a:lnTo>
                  <a:pt x="7315200" y="1915252"/>
                </a:lnTo>
                <a:lnTo>
                  <a:pt x="0" y="191525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true" flipV="false" rot="0">
            <a:off x="0" y="5022526"/>
            <a:ext cx="2163220" cy="5264474"/>
          </a:xfrm>
          <a:custGeom>
            <a:avLst/>
            <a:gdLst/>
            <a:ahLst/>
            <a:cxnLst/>
            <a:rect r="r" b="b" t="t" l="l"/>
            <a:pathLst>
              <a:path h="5264474" w="2163220">
                <a:moveTo>
                  <a:pt x="2163220" y="0"/>
                </a:moveTo>
                <a:lnTo>
                  <a:pt x="0" y="0"/>
                </a:lnTo>
                <a:lnTo>
                  <a:pt x="0" y="5264474"/>
                </a:lnTo>
                <a:lnTo>
                  <a:pt x="2163220" y="5264474"/>
                </a:lnTo>
                <a:lnTo>
                  <a:pt x="216322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6998362" y="23475"/>
            <a:ext cx="3626827" cy="3086100"/>
          </a:xfrm>
          <a:custGeom>
            <a:avLst/>
            <a:gdLst/>
            <a:ahLst/>
            <a:cxnLst/>
            <a:rect r="r" b="b" t="t" l="l"/>
            <a:pathLst>
              <a:path h="3086100" w="3626827">
                <a:moveTo>
                  <a:pt x="0" y="0"/>
                </a:moveTo>
                <a:lnTo>
                  <a:pt x="3626827" y="0"/>
                </a:lnTo>
                <a:lnTo>
                  <a:pt x="3626827" y="3086100"/>
                </a:lnTo>
                <a:lnTo>
                  <a:pt x="0" y="30861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true" rot="0">
            <a:off x="10972800" y="0"/>
            <a:ext cx="7315200" cy="1915252"/>
          </a:xfrm>
          <a:custGeom>
            <a:avLst/>
            <a:gdLst/>
            <a:ahLst/>
            <a:cxnLst/>
            <a:rect r="r" b="b" t="t" l="l"/>
            <a:pathLst>
              <a:path h="1915252" w="7315200">
                <a:moveTo>
                  <a:pt x="0" y="1915252"/>
                </a:moveTo>
                <a:lnTo>
                  <a:pt x="7315200" y="1915252"/>
                </a:lnTo>
                <a:lnTo>
                  <a:pt x="7315200" y="0"/>
                </a:lnTo>
                <a:lnTo>
                  <a:pt x="0" y="0"/>
                </a:lnTo>
                <a:lnTo>
                  <a:pt x="0" y="1915252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383626" y="2602104"/>
            <a:ext cx="10246528" cy="7684896"/>
          </a:xfrm>
          <a:custGeom>
            <a:avLst/>
            <a:gdLst/>
            <a:ahLst/>
            <a:cxnLst/>
            <a:rect r="r" b="b" t="t" l="l"/>
            <a:pathLst>
              <a:path h="7684896" w="10246528">
                <a:moveTo>
                  <a:pt x="0" y="0"/>
                </a:moveTo>
                <a:lnTo>
                  <a:pt x="10246528" y="0"/>
                </a:lnTo>
                <a:lnTo>
                  <a:pt x="10246528" y="7684896"/>
                </a:lnTo>
                <a:lnTo>
                  <a:pt x="0" y="768489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11547513" y="2712713"/>
            <a:ext cx="5620548" cy="2552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720"/>
              </a:lnSpc>
              <a:spcBef>
                <a:spcPct val="0"/>
              </a:spcBef>
            </a:pPr>
            <a:r>
              <a:rPr lang="en-US" b="true" sz="5600" strike="noStrike" u="none">
                <a:solidFill>
                  <a:srgbClr val="1C1C1C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我們不重建香爐，而是把低價模組加裝上去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2108936" y="5502166"/>
            <a:ext cx="5922928" cy="21507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18160" indent="-259080" lvl="1">
              <a:lnSpc>
                <a:spcPts val="4320"/>
              </a:lnSpc>
              <a:buFont typeface="Arial"/>
              <a:buChar char="•"/>
            </a:pPr>
            <a:r>
              <a:rPr lang="en-US" b="true" sz="2400" strike="noStrike" u="none">
                <a:solidFill>
                  <a:srgbClr val="1C1C1C"/>
                </a:solidFill>
                <a:latin typeface="Poppins Bold"/>
                <a:ea typeface="Poppins Bold"/>
                <a:cs typeface="Poppins Bold"/>
                <a:sym typeface="Poppins Bold"/>
              </a:rPr>
              <a:t>RETROFIT｜加裝在既有香爐</a:t>
            </a:r>
          </a:p>
          <a:p>
            <a:pPr algn="l" marL="518160" indent="-259080" lvl="1">
              <a:lnSpc>
                <a:spcPts val="4320"/>
              </a:lnSpc>
              <a:buFont typeface="Arial"/>
              <a:buChar char="•"/>
            </a:pPr>
            <a:r>
              <a:rPr lang="en-US" b="true" sz="2400" strike="noStrike" u="none">
                <a:solidFill>
                  <a:srgbClr val="1C1C1C"/>
                </a:solidFill>
                <a:latin typeface="Poppins Bold"/>
                <a:ea typeface="Poppins Bold"/>
                <a:cs typeface="Poppins Bold"/>
                <a:sym typeface="Poppins Bold"/>
              </a:rPr>
              <a:t>單機物料 &lt; NT$4,200</a:t>
            </a:r>
          </a:p>
          <a:p>
            <a:pPr algn="l" marL="518160" indent="-259080" lvl="1">
              <a:lnSpc>
                <a:spcPts val="4320"/>
              </a:lnSpc>
              <a:buFont typeface="Arial"/>
              <a:buChar char="•"/>
            </a:pPr>
            <a:r>
              <a:rPr lang="en-US" b="true" sz="2400" strike="noStrike" u="none">
                <a:solidFill>
                  <a:srgbClr val="1C1C1C"/>
                </a:solidFill>
                <a:latin typeface="Poppins Bold"/>
                <a:ea typeface="Poppins Bold"/>
                <a:cs typeface="Poppins Bold"/>
                <a:sym typeface="Poppins Bold"/>
              </a:rPr>
              <a:t>十年 TCO 約為碳中和金爐 1/8</a:t>
            </a:r>
          </a:p>
          <a:p>
            <a:pPr algn="l" marL="518160" indent="-259080" lvl="1">
              <a:lnSpc>
                <a:spcPts val="4320"/>
              </a:lnSpc>
              <a:buFont typeface="Arial"/>
              <a:buChar char="•"/>
            </a:pPr>
            <a:r>
              <a:rPr lang="en-US" b="true" sz="2400" strike="noStrike" u="none">
                <a:solidFill>
                  <a:srgbClr val="1C1C1C"/>
                </a:solidFill>
                <a:latin typeface="Poppins Bold"/>
                <a:ea typeface="Poppins Bold"/>
                <a:cs typeface="Poppins Bold"/>
                <a:sym typeface="Poppins Bold"/>
              </a:rPr>
              <a:t>省約 87%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2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4070597" y="1488102"/>
            <a:ext cx="2833103" cy="2985070"/>
          </a:xfrm>
          <a:custGeom>
            <a:avLst/>
            <a:gdLst/>
            <a:ahLst/>
            <a:cxnLst/>
            <a:rect r="r" b="b" t="t" l="l"/>
            <a:pathLst>
              <a:path h="2985070" w="2833103">
                <a:moveTo>
                  <a:pt x="0" y="0"/>
                </a:moveTo>
                <a:lnTo>
                  <a:pt x="2833103" y="0"/>
                </a:lnTo>
                <a:lnTo>
                  <a:pt x="2833103" y="2985070"/>
                </a:lnTo>
                <a:lnTo>
                  <a:pt x="0" y="298507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0">
            <a:off x="8169701" y="2084717"/>
            <a:ext cx="2057162" cy="2167507"/>
          </a:xfrm>
          <a:custGeom>
            <a:avLst/>
            <a:gdLst/>
            <a:ahLst/>
            <a:cxnLst/>
            <a:rect r="r" b="b" t="t" l="l"/>
            <a:pathLst>
              <a:path h="2167507" w="2057162">
                <a:moveTo>
                  <a:pt x="2057161" y="0"/>
                </a:moveTo>
                <a:lnTo>
                  <a:pt x="0" y="0"/>
                </a:lnTo>
                <a:lnTo>
                  <a:pt x="0" y="2167507"/>
                </a:lnTo>
                <a:lnTo>
                  <a:pt x="2057161" y="2167507"/>
                </a:lnTo>
                <a:lnTo>
                  <a:pt x="2057161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-514350" y="-514350"/>
            <a:ext cx="7808520" cy="11506801"/>
            <a:chOff x="0" y="0"/>
            <a:chExt cx="2056565" cy="3030598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056565" cy="3030598"/>
            </a:xfrm>
            <a:custGeom>
              <a:avLst/>
              <a:gdLst/>
              <a:ahLst/>
              <a:cxnLst/>
              <a:rect r="r" b="b" t="t" l="l"/>
              <a:pathLst>
                <a:path h="3030598" w="2056565">
                  <a:moveTo>
                    <a:pt x="0" y="0"/>
                  </a:moveTo>
                  <a:lnTo>
                    <a:pt x="2056565" y="0"/>
                  </a:lnTo>
                  <a:lnTo>
                    <a:pt x="2056565" y="3030598"/>
                  </a:lnTo>
                  <a:lnTo>
                    <a:pt x="0" y="3030598"/>
                  </a:lnTo>
                  <a:close/>
                </a:path>
              </a:pathLst>
            </a:custGeom>
            <a:solidFill>
              <a:srgbClr val="CB7F67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123825"/>
              <a:ext cx="2056565" cy="31544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40"/>
                </a:lnSpc>
              </a:pPr>
            </a:p>
          </p:txBody>
        </p:sp>
      </p:grpSp>
      <p:sp>
        <p:nvSpPr>
          <p:cNvPr name="Freeform 7" id="7"/>
          <p:cNvSpPr/>
          <p:nvPr/>
        </p:nvSpPr>
        <p:spPr>
          <a:xfrm flipH="false" flipV="false" rot="0">
            <a:off x="3389910" y="7920240"/>
            <a:ext cx="3441469" cy="4114800"/>
          </a:xfrm>
          <a:custGeom>
            <a:avLst/>
            <a:gdLst/>
            <a:ahLst/>
            <a:cxnLst/>
            <a:rect r="r" b="b" t="t" l="l"/>
            <a:pathLst>
              <a:path h="4114800" w="3441469">
                <a:moveTo>
                  <a:pt x="0" y="0"/>
                </a:moveTo>
                <a:lnTo>
                  <a:pt x="3441469" y="0"/>
                </a:lnTo>
                <a:lnTo>
                  <a:pt x="3441469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-10800000">
            <a:off x="-51559" y="-1803926"/>
            <a:ext cx="3441469" cy="4114800"/>
          </a:xfrm>
          <a:custGeom>
            <a:avLst/>
            <a:gdLst/>
            <a:ahLst/>
            <a:cxnLst/>
            <a:rect r="r" b="b" t="t" l="l"/>
            <a:pathLst>
              <a:path h="4114800" w="3441469">
                <a:moveTo>
                  <a:pt x="0" y="0"/>
                </a:moveTo>
                <a:lnTo>
                  <a:pt x="3441469" y="0"/>
                </a:lnTo>
                <a:lnTo>
                  <a:pt x="3441469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8925253" y="3264940"/>
            <a:ext cx="9362747" cy="7022060"/>
          </a:xfrm>
          <a:custGeom>
            <a:avLst/>
            <a:gdLst/>
            <a:ahLst/>
            <a:cxnLst/>
            <a:rect r="r" b="b" t="t" l="l"/>
            <a:pathLst>
              <a:path h="7022060" w="9362747">
                <a:moveTo>
                  <a:pt x="0" y="0"/>
                </a:moveTo>
                <a:lnTo>
                  <a:pt x="9362747" y="0"/>
                </a:lnTo>
                <a:lnTo>
                  <a:pt x="9362747" y="7022060"/>
                </a:lnTo>
                <a:lnTo>
                  <a:pt x="0" y="702206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1427826" y="2971112"/>
            <a:ext cx="5579398" cy="2552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720"/>
              </a:lnSpc>
              <a:spcBef>
                <a:spcPct val="0"/>
              </a:spcBef>
            </a:pPr>
            <a:r>
              <a:rPr lang="en-US" b="true" sz="5600" strike="noStrike" u="none">
                <a:solidFill>
                  <a:srgbClr val="1C1C1C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空污等於「產生 − 移除」，我們只放大移除端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427826" y="5681398"/>
            <a:ext cx="4689559" cy="16249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88620" indent="-194310" lvl="1">
              <a:lnSpc>
                <a:spcPts val="3240"/>
              </a:lnSpc>
              <a:buFont typeface="Arial"/>
              <a:buChar char="•"/>
            </a:pPr>
            <a:r>
              <a:rPr lang="en-US" b="true" sz="1800" strike="noStrike" u="none">
                <a:solidFill>
                  <a:srgbClr val="1C1C1C"/>
                </a:solidFill>
                <a:latin typeface="Poppins Bold"/>
                <a:ea typeface="Poppins Bold"/>
                <a:cs typeface="Poppins Bold"/>
                <a:sym typeface="Poppins Bold"/>
              </a:rPr>
              <a:t>產生端：保留信仰</a:t>
            </a:r>
          </a:p>
          <a:p>
            <a:pPr algn="l" marL="388620" indent="-194310" lvl="1">
              <a:lnSpc>
                <a:spcPts val="3240"/>
              </a:lnSpc>
              <a:buFont typeface="Arial"/>
              <a:buChar char="•"/>
            </a:pPr>
            <a:r>
              <a:rPr lang="en-US" b="true" sz="1800" strike="noStrike" u="none">
                <a:solidFill>
                  <a:srgbClr val="1C1C1C"/>
                </a:solidFill>
                <a:latin typeface="Poppins Bold"/>
                <a:ea typeface="Poppins Bold"/>
                <a:cs typeface="Poppins Bold"/>
                <a:sym typeface="Poppins Bold"/>
              </a:rPr>
              <a:t>移除端：捕集、抽排、過濾</a:t>
            </a:r>
          </a:p>
          <a:p>
            <a:pPr algn="l" marL="388620" indent="-194310" lvl="1">
              <a:lnSpc>
                <a:spcPts val="3240"/>
              </a:lnSpc>
              <a:buFont typeface="Arial"/>
              <a:buChar char="•"/>
            </a:pPr>
            <a:r>
              <a:rPr lang="en-US" b="true" sz="1800" strike="noStrike" u="none">
                <a:solidFill>
                  <a:srgbClr val="1C1C1C"/>
                </a:solidFill>
                <a:latin typeface="Poppins Bold"/>
                <a:ea typeface="Poppins Bold"/>
                <a:cs typeface="Poppins Bold"/>
                <a:sym typeface="Poppins Bold"/>
              </a:rPr>
              <a:t>讓香爐自己學會呼吸</a:t>
            </a:r>
          </a:p>
          <a:p>
            <a:pPr algn="l" marL="388620" indent="-194310" lvl="1">
              <a:lnSpc>
                <a:spcPts val="3240"/>
              </a:lnSpc>
              <a:buFont typeface="Arial"/>
              <a:buChar char="•"/>
            </a:pPr>
            <a:r>
              <a:rPr lang="en-US" b="true" sz="1800" strike="noStrike" u="none">
                <a:solidFill>
                  <a:srgbClr val="1C1C1C"/>
                </a:solidFill>
                <a:latin typeface="Poppins Bold"/>
                <a:ea typeface="Poppins Bold"/>
                <a:cs typeface="Poppins Bold"/>
                <a:sym typeface="Poppins Bold"/>
              </a:rPr>
              <a:t>不叫信眾停止呼吸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2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514350" y="0"/>
            <a:ext cx="9313018" cy="11089808"/>
            <a:chOff x="0" y="0"/>
            <a:chExt cx="2452811" cy="292077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2811" cy="2920772"/>
            </a:xfrm>
            <a:custGeom>
              <a:avLst/>
              <a:gdLst/>
              <a:ahLst/>
              <a:cxnLst/>
              <a:rect r="r" b="b" t="t" l="l"/>
              <a:pathLst>
                <a:path h="2920772" w="2452811">
                  <a:moveTo>
                    <a:pt x="0" y="0"/>
                  </a:moveTo>
                  <a:lnTo>
                    <a:pt x="2452811" y="0"/>
                  </a:lnTo>
                  <a:lnTo>
                    <a:pt x="2452811" y="2920772"/>
                  </a:lnTo>
                  <a:lnTo>
                    <a:pt x="0" y="2920772"/>
                  </a:lnTo>
                  <a:close/>
                </a:path>
              </a:pathLst>
            </a:custGeom>
            <a:solidFill>
              <a:srgbClr val="CB7F67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123825"/>
              <a:ext cx="2452811" cy="304459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40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-230381" y="8118626"/>
            <a:ext cx="6971649" cy="2522469"/>
          </a:xfrm>
          <a:custGeom>
            <a:avLst/>
            <a:gdLst/>
            <a:ahLst/>
            <a:cxnLst/>
            <a:rect r="r" b="b" t="t" l="l"/>
            <a:pathLst>
              <a:path h="2522469" w="6971649">
                <a:moveTo>
                  <a:pt x="0" y="0"/>
                </a:moveTo>
                <a:lnTo>
                  <a:pt x="6971649" y="0"/>
                </a:lnTo>
                <a:lnTo>
                  <a:pt x="6971649" y="2522469"/>
                </a:lnTo>
                <a:lnTo>
                  <a:pt x="0" y="252246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6741268" y="91265"/>
            <a:ext cx="4114800" cy="4114800"/>
          </a:xfrm>
          <a:custGeom>
            <a:avLst/>
            <a:gdLst/>
            <a:ahLst/>
            <a:cxnLst/>
            <a:rect r="r" b="b" t="t" l="l"/>
            <a:pathLst>
              <a:path h="4114800" w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6741268" y="91265"/>
            <a:ext cx="2036672" cy="4114800"/>
          </a:xfrm>
          <a:custGeom>
            <a:avLst/>
            <a:gdLst/>
            <a:ahLst/>
            <a:cxnLst/>
            <a:rect r="r" b="b" t="t" l="l"/>
            <a:pathLst>
              <a:path h="4114800" w="2036672">
                <a:moveTo>
                  <a:pt x="0" y="0"/>
                </a:moveTo>
                <a:lnTo>
                  <a:pt x="2036672" y="0"/>
                </a:lnTo>
                <a:lnTo>
                  <a:pt x="203667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-102035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0856068" y="1399029"/>
            <a:ext cx="6977361" cy="9690779"/>
          </a:xfrm>
          <a:custGeom>
            <a:avLst/>
            <a:gdLst/>
            <a:ahLst/>
            <a:cxnLst/>
            <a:rect r="r" b="b" t="t" l="l"/>
            <a:pathLst>
              <a:path h="9690779" w="6977361">
                <a:moveTo>
                  <a:pt x="0" y="0"/>
                </a:moveTo>
                <a:lnTo>
                  <a:pt x="6977360" y="0"/>
                </a:lnTo>
                <a:lnTo>
                  <a:pt x="6977360" y="9690779"/>
                </a:lnTo>
                <a:lnTo>
                  <a:pt x="0" y="969077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1338505" y="2691097"/>
            <a:ext cx="4503507" cy="2552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720"/>
              </a:lnSpc>
              <a:spcBef>
                <a:spcPct val="0"/>
              </a:spcBef>
            </a:pPr>
            <a:r>
              <a:rPr lang="en-US" b="true" sz="5600" strike="noStrike" u="none">
                <a:solidFill>
                  <a:srgbClr val="1C1C1C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感測、決策、機構，讓香爐自己學會呼吸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338505" y="5551838"/>
            <a:ext cx="3815951" cy="8058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240"/>
              </a:lnSpc>
              <a:spcBef>
                <a:spcPct val="0"/>
              </a:spcBef>
            </a:pPr>
            <a:r>
              <a:rPr lang="en-US" sz="1800" strike="noStrike" u="none">
                <a:solidFill>
                  <a:srgbClr val="1C1C1C"/>
                </a:solidFill>
                <a:latin typeface="Poppins Light"/>
                <a:ea typeface="Poppins Light"/>
                <a:cs typeface="Poppins Light"/>
                <a:sym typeface="Poppins Light"/>
              </a:rPr>
              <a:t>過濾｜金屬紗網 → HEPA → 活性碳</a:t>
            </a:r>
          </a:p>
          <a:p>
            <a:pPr algn="l" marL="0" indent="0" lvl="0">
              <a:lnSpc>
                <a:spcPts val="3240"/>
              </a:lnSpc>
              <a:spcBef>
                <a:spcPct val="0"/>
              </a:spcBef>
            </a:pPr>
            <a:r>
              <a:rPr lang="en-US" sz="1800" strike="noStrike" u="none">
                <a:solidFill>
                  <a:srgbClr val="1C1C1C"/>
                </a:solidFill>
                <a:latin typeface="Poppins Light"/>
                <a:ea typeface="Poppins Light"/>
                <a:cs typeface="Poppins Light"/>
                <a:sym typeface="Poppins Light"/>
              </a:rPr>
              <a:t>順序即安全，核心智慧在前饋削峰。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2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713594" y="-257555"/>
            <a:ext cx="13816618" cy="12267593"/>
            <a:chOff x="0" y="0"/>
            <a:chExt cx="3638945" cy="323097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638945" cy="3230971"/>
            </a:xfrm>
            <a:custGeom>
              <a:avLst/>
              <a:gdLst/>
              <a:ahLst/>
              <a:cxnLst/>
              <a:rect r="r" b="b" t="t" l="l"/>
              <a:pathLst>
                <a:path h="3230971" w="3638945">
                  <a:moveTo>
                    <a:pt x="0" y="0"/>
                  </a:moveTo>
                  <a:lnTo>
                    <a:pt x="3638945" y="0"/>
                  </a:lnTo>
                  <a:lnTo>
                    <a:pt x="3638945" y="3230971"/>
                  </a:lnTo>
                  <a:lnTo>
                    <a:pt x="0" y="3230971"/>
                  </a:lnTo>
                  <a:close/>
                </a:path>
              </a:pathLst>
            </a:custGeom>
            <a:solidFill>
              <a:srgbClr val="CB7F67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123825"/>
              <a:ext cx="3638945" cy="335479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40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4346365" y="-143142"/>
            <a:ext cx="1925690" cy="3124275"/>
          </a:xfrm>
          <a:custGeom>
            <a:avLst/>
            <a:gdLst/>
            <a:ahLst/>
            <a:cxnLst/>
            <a:rect r="r" b="b" t="t" l="l"/>
            <a:pathLst>
              <a:path h="3124275" w="1925690">
                <a:moveTo>
                  <a:pt x="0" y="0"/>
                </a:moveTo>
                <a:lnTo>
                  <a:pt x="1925690" y="0"/>
                </a:lnTo>
                <a:lnTo>
                  <a:pt x="1925690" y="3124275"/>
                </a:lnTo>
                <a:lnTo>
                  <a:pt x="0" y="312427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77164" y="7895238"/>
            <a:ext cx="3441469" cy="4114800"/>
          </a:xfrm>
          <a:custGeom>
            <a:avLst/>
            <a:gdLst/>
            <a:ahLst/>
            <a:cxnLst/>
            <a:rect r="r" b="b" t="t" l="l"/>
            <a:pathLst>
              <a:path h="4114800" w="3441469">
                <a:moveTo>
                  <a:pt x="0" y="0"/>
                </a:moveTo>
                <a:lnTo>
                  <a:pt x="3441469" y="0"/>
                </a:lnTo>
                <a:lnTo>
                  <a:pt x="3441469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7799674" y="750551"/>
            <a:ext cx="9970086" cy="6613813"/>
          </a:xfrm>
          <a:custGeom>
            <a:avLst/>
            <a:gdLst/>
            <a:ahLst/>
            <a:cxnLst/>
            <a:rect r="r" b="b" t="t" l="l"/>
            <a:pathLst>
              <a:path h="6613813" w="9970086">
                <a:moveTo>
                  <a:pt x="0" y="0"/>
                </a:moveTo>
                <a:lnTo>
                  <a:pt x="9970086" y="0"/>
                </a:lnTo>
                <a:lnTo>
                  <a:pt x="9970086" y="6613814"/>
                </a:lnTo>
                <a:lnTo>
                  <a:pt x="0" y="661381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-66897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6713594" y="7685112"/>
            <a:ext cx="1450673" cy="2485577"/>
          </a:xfrm>
          <a:custGeom>
            <a:avLst/>
            <a:gdLst/>
            <a:ahLst/>
            <a:cxnLst/>
            <a:rect r="r" b="b" t="t" l="l"/>
            <a:pathLst>
              <a:path h="2485577" w="1450673">
                <a:moveTo>
                  <a:pt x="0" y="0"/>
                </a:moveTo>
                <a:lnTo>
                  <a:pt x="1450673" y="0"/>
                </a:lnTo>
                <a:lnTo>
                  <a:pt x="1450673" y="2485576"/>
                </a:lnTo>
                <a:lnTo>
                  <a:pt x="0" y="248557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510179" y="3381375"/>
            <a:ext cx="5989973" cy="1762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959"/>
              </a:lnSpc>
              <a:spcBef>
                <a:spcPct val="0"/>
              </a:spcBef>
            </a:pPr>
            <a:r>
              <a:rPr lang="en-US" b="true" sz="5799" strike="noStrike" u="none">
                <a:solidFill>
                  <a:srgbClr val="1C1C1C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每一層失效，</a:t>
            </a:r>
          </a:p>
          <a:p>
            <a:pPr algn="l" marL="0" indent="0" lvl="0">
              <a:lnSpc>
                <a:spcPts val="6959"/>
              </a:lnSpc>
              <a:spcBef>
                <a:spcPct val="0"/>
              </a:spcBef>
            </a:pPr>
            <a:r>
              <a:rPr lang="en-US" b="true" sz="5799" strike="noStrike" u="none">
                <a:solidFill>
                  <a:srgbClr val="1C1C1C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都往安全方向收斂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2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2057400" y="0"/>
            <a:ext cx="3086100" cy="11466518"/>
            <a:chOff x="0" y="0"/>
            <a:chExt cx="812800" cy="301998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12800" cy="3019988"/>
            </a:xfrm>
            <a:custGeom>
              <a:avLst/>
              <a:gdLst/>
              <a:ahLst/>
              <a:cxnLst/>
              <a:rect r="r" b="b" t="t" l="l"/>
              <a:pathLst>
                <a:path h="3019988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3019988"/>
                  </a:lnTo>
                  <a:lnTo>
                    <a:pt x="0" y="3019988"/>
                  </a:lnTo>
                  <a:close/>
                </a:path>
              </a:pathLst>
            </a:custGeom>
            <a:solidFill>
              <a:srgbClr val="CD6C4D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123825"/>
              <a:ext cx="812800" cy="314381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4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7259300" y="-262801"/>
            <a:ext cx="3086100" cy="11466518"/>
            <a:chOff x="0" y="0"/>
            <a:chExt cx="812800" cy="3019988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12800" cy="3019988"/>
            </a:xfrm>
            <a:custGeom>
              <a:avLst/>
              <a:gdLst/>
              <a:ahLst/>
              <a:cxnLst/>
              <a:rect r="r" b="b" t="t" l="l"/>
              <a:pathLst>
                <a:path h="3019988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3019988"/>
                  </a:lnTo>
                  <a:lnTo>
                    <a:pt x="0" y="3019988"/>
                  </a:lnTo>
                  <a:close/>
                </a:path>
              </a:pathLst>
            </a:custGeom>
            <a:solidFill>
              <a:srgbClr val="CD6C4D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123825"/>
              <a:ext cx="812800" cy="314381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40"/>
                </a:lnSpc>
              </a:pPr>
            </a:p>
          </p:txBody>
        </p:sp>
      </p:grpSp>
      <p:sp>
        <p:nvSpPr>
          <p:cNvPr name="Freeform 8" id="8"/>
          <p:cNvSpPr/>
          <p:nvPr/>
        </p:nvSpPr>
        <p:spPr>
          <a:xfrm flipH="false" flipV="false" rot="0">
            <a:off x="14989019" y="5143500"/>
            <a:ext cx="2163220" cy="5264474"/>
          </a:xfrm>
          <a:custGeom>
            <a:avLst/>
            <a:gdLst/>
            <a:ahLst/>
            <a:cxnLst/>
            <a:rect r="r" b="b" t="t" l="l"/>
            <a:pathLst>
              <a:path h="5264474" w="2163220">
                <a:moveTo>
                  <a:pt x="0" y="0"/>
                </a:moveTo>
                <a:lnTo>
                  <a:pt x="2163220" y="0"/>
                </a:lnTo>
                <a:lnTo>
                  <a:pt x="2163220" y="5264474"/>
                </a:lnTo>
                <a:lnTo>
                  <a:pt x="0" y="526447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569166" y="0"/>
            <a:ext cx="1598878" cy="5982197"/>
          </a:xfrm>
          <a:custGeom>
            <a:avLst/>
            <a:gdLst/>
            <a:ahLst/>
            <a:cxnLst/>
            <a:rect r="r" b="b" t="t" l="l"/>
            <a:pathLst>
              <a:path h="5982197" w="1598878">
                <a:moveTo>
                  <a:pt x="0" y="0"/>
                </a:moveTo>
                <a:lnTo>
                  <a:pt x="1598878" y="0"/>
                </a:lnTo>
                <a:lnTo>
                  <a:pt x="1598878" y="5982197"/>
                </a:lnTo>
                <a:lnTo>
                  <a:pt x="0" y="598219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8142850" y="3258439"/>
            <a:ext cx="6741394" cy="4424040"/>
          </a:xfrm>
          <a:custGeom>
            <a:avLst/>
            <a:gdLst/>
            <a:ahLst/>
            <a:cxnLst/>
            <a:rect r="r" b="b" t="t" l="l"/>
            <a:pathLst>
              <a:path h="4424040" w="6741394">
                <a:moveTo>
                  <a:pt x="0" y="0"/>
                </a:moveTo>
                <a:lnTo>
                  <a:pt x="6741394" y="0"/>
                </a:lnTo>
                <a:lnTo>
                  <a:pt x="6741394" y="4424039"/>
                </a:lnTo>
                <a:lnTo>
                  <a:pt x="0" y="44240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3305025" y="5982197"/>
            <a:ext cx="4171655" cy="4171655"/>
          </a:xfrm>
          <a:custGeom>
            <a:avLst/>
            <a:gdLst/>
            <a:ahLst/>
            <a:cxnLst/>
            <a:rect r="r" b="b" t="t" l="l"/>
            <a:pathLst>
              <a:path h="4171655" w="4171655">
                <a:moveTo>
                  <a:pt x="0" y="0"/>
                </a:moveTo>
                <a:lnTo>
                  <a:pt x="4171655" y="0"/>
                </a:lnTo>
                <a:lnTo>
                  <a:pt x="4171655" y="4171655"/>
                </a:lnTo>
                <a:lnTo>
                  <a:pt x="0" y="417165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3609155" y="823434"/>
            <a:ext cx="5770366" cy="2552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720"/>
              </a:lnSpc>
              <a:spcBef>
                <a:spcPct val="0"/>
              </a:spcBef>
            </a:pPr>
            <a:r>
              <a:rPr lang="en-US" b="true" sz="5600" strike="noStrike" u="none">
                <a:solidFill>
                  <a:srgbClr val="1C1C1C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2026 年 8 月，</a:t>
            </a:r>
          </a:p>
          <a:p>
            <a:pPr algn="l" marL="0" indent="0" lvl="0">
              <a:lnSpc>
                <a:spcPts val="6720"/>
              </a:lnSpc>
              <a:spcBef>
                <a:spcPct val="0"/>
              </a:spcBef>
            </a:pPr>
            <a:r>
              <a:rPr lang="en-US" b="true" sz="5600" strike="noStrike" u="none">
                <a:solidFill>
                  <a:srgbClr val="1C1C1C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智慧香爐已在真實場域跑起來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3710969" y="3540419"/>
            <a:ext cx="6187222" cy="11556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062"/>
              </a:lnSpc>
              <a:spcBef>
                <a:spcPct val="0"/>
              </a:spcBef>
            </a:pPr>
            <a:r>
              <a:rPr lang="en-US" sz="1701" strike="noStrike" u="none">
                <a:solidFill>
                  <a:srgbClr val="545454"/>
                </a:solidFill>
                <a:latin typeface="Poppins Light"/>
                <a:ea typeface="Poppins Light"/>
                <a:cs typeface="Poppins Light"/>
                <a:sym typeface="Poppins Light"/>
              </a:rPr>
              <a:t>實機上線｜資料每秒入庫</a:t>
            </a:r>
          </a:p>
          <a:p>
            <a:pPr algn="l" marL="0" indent="0" lvl="0">
              <a:lnSpc>
                <a:spcPts val="3062"/>
              </a:lnSpc>
              <a:spcBef>
                <a:spcPct val="0"/>
              </a:spcBef>
            </a:pPr>
            <a:r>
              <a:rPr lang="en-US" sz="1701" strike="noStrike" u="none">
                <a:solidFill>
                  <a:srgbClr val="545454"/>
                </a:solidFill>
                <a:latin typeface="Poppins Light"/>
                <a:ea typeface="Poppins Light"/>
                <a:cs typeface="Poppins Light"/>
                <a:sym typeface="Poppins Light"/>
              </a:rPr>
              <a:t>12 項雲端驗收全過</a:t>
            </a:r>
          </a:p>
          <a:p>
            <a:pPr algn="l" marL="0" indent="0" lvl="0">
              <a:lnSpc>
                <a:spcPts val="3062"/>
              </a:lnSpc>
              <a:spcBef>
                <a:spcPct val="0"/>
              </a:spcBef>
            </a:pPr>
            <a:r>
              <a:rPr lang="en-US" sz="1701" strike="noStrike" u="none">
                <a:solidFill>
                  <a:srgbClr val="545454"/>
                </a:solidFill>
                <a:latin typeface="Poppins Light"/>
                <a:ea typeface="Poppins Light"/>
                <a:cs typeface="Poppins Light"/>
                <a:sym typeface="Poppins Light"/>
              </a:rPr>
              <a:t>3 個公開唯讀儀表板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2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1176313" y="1028700"/>
            <a:ext cx="6082987" cy="8229600"/>
            <a:chOff x="0" y="0"/>
            <a:chExt cx="2096553" cy="2836401"/>
          </a:xfrm>
        </p:grpSpPr>
        <p:sp>
          <p:nvSpPr>
            <p:cNvPr name="Freeform 3" id="3" descr="信眾在清爽明亮的寺廟中祈福，香爐上方煙霧被集煙罩控制"/>
            <p:cNvSpPr/>
            <p:nvPr/>
          </p:nvSpPr>
          <p:spPr>
            <a:xfrm flipH="false" flipV="false" rot="0">
              <a:off x="0" y="0"/>
              <a:ext cx="2096553" cy="2836401"/>
            </a:xfrm>
            <a:custGeom>
              <a:avLst/>
              <a:gdLst/>
              <a:ahLst/>
              <a:cxnLst/>
              <a:rect r="r" b="b" t="t" l="l"/>
              <a:pathLst>
                <a:path h="2836401" w="2096553">
                  <a:moveTo>
                    <a:pt x="19091" y="0"/>
                  </a:moveTo>
                  <a:lnTo>
                    <a:pt x="2077462" y="0"/>
                  </a:lnTo>
                  <a:cubicBezTo>
                    <a:pt x="2082525" y="0"/>
                    <a:pt x="2087381" y="2011"/>
                    <a:pt x="2090961" y="5592"/>
                  </a:cubicBezTo>
                  <a:cubicBezTo>
                    <a:pt x="2094542" y="9172"/>
                    <a:pt x="2096553" y="14028"/>
                    <a:pt x="2096553" y="19091"/>
                  </a:cubicBezTo>
                  <a:lnTo>
                    <a:pt x="2096553" y="2817311"/>
                  </a:lnTo>
                  <a:cubicBezTo>
                    <a:pt x="2096553" y="2827854"/>
                    <a:pt x="2088006" y="2836401"/>
                    <a:pt x="2077462" y="2836401"/>
                  </a:cubicBezTo>
                  <a:lnTo>
                    <a:pt x="19091" y="2836401"/>
                  </a:lnTo>
                  <a:cubicBezTo>
                    <a:pt x="14028" y="2836401"/>
                    <a:pt x="9172" y="2834390"/>
                    <a:pt x="5592" y="2830810"/>
                  </a:cubicBezTo>
                  <a:cubicBezTo>
                    <a:pt x="2011" y="2827230"/>
                    <a:pt x="0" y="2822374"/>
                    <a:pt x="0" y="2817311"/>
                  </a:cubicBezTo>
                  <a:lnTo>
                    <a:pt x="0" y="19091"/>
                  </a:lnTo>
                  <a:cubicBezTo>
                    <a:pt x="0" y="14028"/>
                    <a:pt x="2011" y="9172"/>
                    <a:pt x="5592" y="5592"/>
                  </a:cubicBezTo>
                  <a:cubicBezTo>
                    <a:pt x="9172" y="2011"/>
                    <a:pt x="14028" y="0"/>
                    <a:pt x="19091" y="0"/>
                  </a:cubicBezTo>
                  <a:close/>
                </a:path>
              </a:pathLst>
            </a:custGeom>
            <a:blipFill>
              <a:blip r:embed="rId3"/>
              <a:stretch>
                <a:fillRect l="-70256" t="0" r="-70256" b="0"/>
              </a:stretch>
            </a:blipFill>
          </p:spPr>
        </p:sp>
      </p:grpSp>
      <p:sp>
        <p:nvSpPr>
          <p:cNvPr name="Freeform 4" id="4"/>
          <p:cNvSpPr/>
          <p:nvPr/>
        </p:nvSpPr>
        <p:spPr>
          <a:xfrm flipH="false" flipV="false" rot="0">
            <a:off x="8947941" y="-30894"/>
            <a:ext cx="1099774" cy="4114800"/>
          </a:xfrm>
          <a:custGeom>
            <a:avLst/>
            <a:gdLst/>
            <a:ahLst/>
            <a:cxnLst/>
            <a:rect r="r" b="b" t="t" l="l"/>
            <a:pathLst>
              <a:path h="4114800" w="1099774">
                <a:moveTo>
                  <a:pt x="0" y="0"/>
                </a:moveTo>
                <a:lnTo>
                  <a:pt x="1099773" y="0"/>
                </a:lnTo>
                <a:lnTo>
                  <a:pt x="1099773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10235599">
            <a:off x="-428628" y="8767906"/>
            <a:ext cx="4815191" cy="4114800"/>
          </a:xfrm>
          <a:custGeom>
            <a:avLst/>
            <a:gdLst/>
            <a:ahLst/>
            <a:cxnLst/>
            <a:rect r="r" b="b" t="t" l="l"/>
            <a:pathLst>
              <a:path h="4114800" w="4815191">
                <a:moveTo>
                  <a:pt x="0" y="0"/>
                </a:moveTo>
                <a:lnTo>
                  <a:pt x="4815192" y="0"/>
                </a:lnTo>
                <a:lnTo>
                  <a:pt x="481519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-9709295">
            <a:off x="4104291" y="8767906"/>
            <a:ext cx="4815191" cy="4114800"/>
          </a:xfrm>
          <a:custGeom>
            <a:avLst/>
            <a:gdLst/>
            <a:ahLst/>
            <a:cxnLst/>
            <a:rect r="r" b="b" t="t" l="l"/>
            <a:pathLst>
              <a:path h="4114800" w="4815191">
                <a:moveTo>
                  <a:pt x="0" y="0"/>
                </a:moveTo>
                <a:lnTo>
                  <a:pt x="4815192" y="0"/>
                </a:lnTo>
                <a:lnTo>
                  <a:pt x="481519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-9709295">
            <a:off x="13500707" y="8767906"/>
            <a:ext cx="4815191" cy="4114800"/>
          </a:xfrm>
          <a:custGeom>
            <a:avLst/>
            <a:gdLst/>
            <a:ahLst/>
            <a:cxnLst/>
            <a:rect r="r" b="b" t="t" l="l"/>
            <a:pathLst>
              <a:path h="4114800" w="4815191">
                <a:moveTo>
                  <a:pt x="0" y="0"/>
                </a:moveTo>
                <a:lnTo>
                  <a:pt x="4815192" y="0"/>
                </a:lnTo>
                <a:lnTo>
                  <a:pt x="481519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10149674">
            <a:off x="8963632" y="8767906"/>
            <a:ext cx="4815191" cy="4114800"/>
          </a:xfrm>
          <a:custGeom>
            <a:avLst/>
            <a:gdLst/>
            <a:ahLst/>
            <a:cxnLst/>
            <a:rect r="r" b="b" t="t" l="l"/>
            <a:pathLst>
              <a:path h="4114800" w="4815191">
                <a:moveTo>
                  <a:pt x="0" y="0"/>
                </a:moveTo>
                <a:lnTo>
                  <a:pt x="4815192" y="0"/>
                </a:lnTo>
                <a:lnTo>
                  <a:pt x="481519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1561563" y="2016981"/>
            <a:ext cx="6440256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720"/>
              </a:lnSpc>
              <a:spcBef>
                <a:spcPct val="0"/>
              </a:spcBef>
            </a:pPr>
            <a:r>
              <a:rPr lang="en-US" b="true" sz="5600" strike="noStrike" u="none">
                <a:solidFill>
                  <a:srgbClr val="1C1C1C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香照燒，神明照拜，煙不見了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561563" y="3712431"/>
            <a:ext cx="4324288" cy="7950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999"/>
              </a:lnSpc>
              <a:spcBef>
                <a:spcPct val="0"/>
              </a:spcBef>
            </a:pPr>
            <a:r>
              <a:rPr lang="en-US" b="true" sz="2799" strike="noStrike" u="none">
                <a:solidFill>
                  <a:srgbClr val="545454"/>
                </a:solidFill>
                <a:latin typeface="Poppins Bold"/>
                <a:ea typeface="Poppins Bold"/>
                <a:cs typeface="Poppins Bold"/>
                <a:sym typeface="Poppins Bold"/>
              </a:rPr>
              <a:t>健康跟信仰，不用二選一。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561563" y="5745892"/>
            <a:ext cx="2909920" cy="1215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240"/>
              </a:lnSpc>
              <a:spcBef>
                <a:spcPct val="0"/>
              </a:spcBef>
            </a:pPr>
            <a:r>
              <a:rPr lang="en-US" sz="1800" strike="noStrike" u="none">
                <a:solidFill>
                  <a:srgbClr val="545454"/>
                </a:solidFill>
                <a:latin typeface="Poppins Light"/>
                <a:ea typeface="Poppins Light"/>
                <a:cs typeface="Poppins Light"/>
                <a:sym typeface="Poppins Light"/>
              </a:rPr>
              <a:t>有拜有包庇</a:t>
            </a:r>
          </a:p>
          <a:p>
            <a:pPr algn="l" marL="0" indent="0" lvl="0">
              <a:lnSpc>
                <a:spcPts val="3240"/>
              </a:lnSpc>
              <a:spcBef>
                <a:spcPct val="0"/>
              </a:spcBef>
            </a:pPr>
            <a:r>
              <a:rPr lang="en-US" sz="1800" strike="noStrike" u="none">
                <a:solidFill>
                  <a:srgbClr val="545454"/>
                </a:solidFill>
                <a:latin typeface="Poppins Light"/>
                <a:ea typeface="Poppins Light"/>
                <a:cs typeface="Poppins Light"/>
                <a:sym typeface="Poppins Light"/>
              </a:rPr>
              <a:t>智慧香爐</a:t>
            </a:r>
          </a:p>
          <a:p>
            <a:pPr algn="l" marL="0" indent="0" lvl="0">
              <a:lnSpc>
                <a:spcPts val="3240"/>
              </a:lnSpc>
              <a:spcBef>
                <a:spcPct val="0"/>
              </a:spcBef>
            </a:pPr>
            <a:r>
              <a:rPr lang="en-US" sz="1800" strike="noStrike" u="none">
                <a:solidFill>
                  <a:srgbClr val="545454"/>
                </a:solidFill>
                <a:latin typeface="Poppins Light"/>
                <a:ea typeface="Poppins Light"/>
                <a:cs typeface="Poppins Light"/>
                <a:sym typeface="Poppins Light"/>
              </a:rPr>
              <a:t>WRO 2026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561563" y="5019675"/>
            <a:ext cx="4774281" cy="3962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240"/>
              </a:lnSpc>
              <a:spcBef>
                <a:spcPct val="0"/>
              </a:spcBef>
            </a:pPr>
            <a:r>
              <a:rPr lang="en-US" sz="1800" strike="noStrike" u="none">
                <a:solidFill>
                  <a:srgbClr val="545454"/>
                </a:solidFill>
                <a:latin typeface="Poppins Light"/>
                <a:ea typeface="Poppins Light"/>
                <a:cs typeface="Poppins Light"/>
                <a:sym typeface="Poppins Light"/>
              </a:rPr>
              <a:t>李承鴻・曾翊軒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DAHSocFZcCA</dc:identifier>
  <dcterms:modified xsi:type="dcterms:W3CDTF">2011-08-01T06:04:30Z</dcterms:modified>
  <cp:revision>1</cp:revision>
  <dc:title>香爐簡報</dc:title>
</cp:coreProperties>
</file>