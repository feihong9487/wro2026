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6858000" cy="9902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902952"/>
          </a:xfrm>
          <a:prstGeom prst="rect">
            <a:avLst/>
          </a:prstGeom>
          <a:solidFill>
            <a:srgbClr val="2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10.png"/>
          <p:cNvPicPr>
            <a:picLocks noChangeAspect="1"/>
          </p:cNvPicPr>
          <p:nvPr/>
        </p:nvPicPr>
        <p:blipFill>
          <a:blip r:embed="rId2"/>
          <a:srcRect l="13676" r="13676"/>
          <a:stretch>
            <a:fillRect/>
          </a:stretch>
        </p:blipFill>
        <p:spPr>
          <a:xfrm>
            <a:off x="0" y="1554480"/>
            <a:ext cx="6858000" cy="4023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554480"/>
            <a:ext cx="6858000" cy="317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77840"/>
            <a:ext cx="6858000" cy="317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320040"/>
            <a:ext cx="1554480" cy="11840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智慧香爐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900" b="0">
                <a:solidFill>
                  <a:srgbClr val="E3C567"/>
                </a:solidFill>
                <a:latin typeface="微軟正黑體"/>
                <a:ea typeface="微軟正黑體"/>
                <a:cs typeface="微軟正黑體"/>
              </a:rPr>
              <a:t>香火不滅・空氣常青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36092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在「不禁香、不封爐」的前提下，讓香爐自己學會呼吸——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加裝於傳統香爐的自主空品治理機器人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8229600"/>
            <a:ext cx="5760720" cy="10160"/>
          </a:xfrm>
          <a:prstGeom prst="rect">
            <a:avLst/>
          </a:prstGeom>
          <a:solidFill>
            <a:srgbClr val="4A4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8412480"/>
            <a:ext cx="5760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隊伍名稱｜有拜有包庇（高中職組）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成員｜李承鴻・曾翊軒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指導教練｜倪瑞鴻・高若瑋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WRO 2026 Future Innovators：Robots Meet Culture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91440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00200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00200"/>
            <a:ext cx="4206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隊伍簡介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57400"/>
            <a:ext cx="91440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057400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057400"/>
            <a:ext cx="4206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專案概要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14600"/>
            <a:ext cx="91440" cy="384048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514600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3-1〜3-8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514600"/>
            <a:ext cx="4206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研究脈絡：香的價值、污染的真相、既有方案的缺口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9718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文化溯源｜影響力量化｜污染與季風｜創新性與前案分析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35584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相對定位｜健康落差｜既有方案比較｜禁香的雙重代價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39896"/>
            <a:ext cx="91440" cy="384048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739896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3-9〜3-12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739896"/>
            <a:ext cx="4206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工程方案：三層閉環的自主治理機器人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19709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三層閉環架構｜感測決策與前饋｜點源捕集機構｜驗證與可投資性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81144"/>
            <a:ext cx="91440" cy="384048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581144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4-1〜4-6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581144"/>
            <a:ext cx="4206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社會衝擊與創新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03834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利害關係人｜文化第三條路｜SDGs｜商業模式｜TCO 對比｜推廣里程碑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422392"/>
            <a:ext cx="91440" cy="384048"/>
          </a:xfrm>
          <a:prstGeom prst="rect">
            <a:avLst/>
          </a:prstGeom>
          <a:solidFill>
            <a:srgbClr val="8A8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422392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422392"/>
            <a:ext cx="4206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參考來源清單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108192"/>
            <a:ext cx="5760720" cy="105156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236208"/>
            <a:ext cx="5394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閱讀指引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本書為精華版：每頁以重點條列與圖解呈現，每張圖均有編號與說明。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完整論述、統計方法與全部數據出處，見文末參考來源清單（依主題編序）。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TEAM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隊伍簡介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pic>
        <p:nvPicPr>
          <p:cNvPr id="9" name="Picture 8" descr="image6.jpg"/>
          <p:cNvPicPr>
            <a:picLocks noChangeAspect="1"/>
          </p:cNvPicPr>
          <p:nvPr/>
        </p:nvPicPr>
        <p:blipFill>
          <a:blip r:embed="rId2"/>
          <a:srcRect t="31543" b="31543"/>
          <a:stretch>
            <a:fillRect/>
          </a:stretch>
        </p:blipFill>
        <p:spPr>
          <a:xfrm>
            <a:off x="548640" y="1417320"/>
            <a:ext cx="5760720" cy="2834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4434840"/>
            <a:ext cx="2816352" cy="178308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434840"/>
            <a:ext cx="2816352" cy="5943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456285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成員 1｜李承鴻（右）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4873752"/>
            <a:ext cx="2560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臺北市立松山工農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軟體與資料：FSM 決策邏輯與 CO2 前饋、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感測整合校正、雲端數據面板、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燃燒艙實驗與統計、文獻/專利/市場分析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4434840"/>
            <a:ext cx="2816352" cy="178308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3008" y="4434840"/>
            <a:ext cx="2816352" cy="5943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456285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成員 2｜曾翊軒（左）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4873752"/>
            <a:ext cx="2560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臺北市私立復興實驗高中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機構與文化：創意發想與文化設計、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參數化 CAD 建模、漏斗集煙罩與排煙過濾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機構之設計・組裝・測試、安全設計驗證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364224"/>
            <a:ext cx="5760720" cy="457200"/>
          </a:xfrm>
          <a:prstGeom prst="roundRect">
            <a:avLst>
              <a:gd name="adj" fmla="val 55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6364224"/>
            <a:ext cx="40640" cy="457200"/>
          </a:xfrm>
          <a:prstGeom prst="rect">
            <a:avLst/>
          </a:prstGeom>
          <a:solidFill>
            <a:srgbClr val="33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364224"/>
            <a:ext cx="5376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共同分工：實驗設計與數據判讀・報告撰寫・時程管理・競賽發表與答詢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967728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指導教練：倪瑞鴻・高若瑋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SUMMARY PROJECT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專案概要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760720" cy="713232"/>
          </a:xfrm>
          <a:prstGeom prst="roundRect">
            <a:avLst>
              <a:gd name="adj" fmla="val 5500"/>
            </a:avLst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一句話定位：全球第一套「爐口點源主動治理」的自主機器人系統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E3C567"/>
                </a:solidFill>
                <a:latin typeface="微軟正黑體"/>
                <a:ea typeface="微軟正黑體"/>
                <a:cs typeface="微軟正黑體"/>
              </a:rPr>
              <a:t>——我們不叫任何人少燒香，而是讓香爐自己學會呼吸。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40280"/>
            <a:ext cx="2816352" cy="1298448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40280"/>
            <a:ext cx="2816352" cy="59436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6829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解決什麼問題？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679192"/>
            <a:ext cx="256032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殿內 PM2.5 一度達戶外 50 倍，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既有對策不是犧牲儀式，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就是 500 萬元的天價方案。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2240280"/>
            <a:ext cx="2816352" cy="1298448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93008" y="2240280"/>
            <a:ext cx="2816352" cy="5943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236829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怎麼解決？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2679192"/>
            <a:ext cx="256032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retrofit 加裝於既有香爐：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感測—決策—機構三層閉環，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CO2 前饋在尖峰前先抽排。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85032"/>
            <a:ext cx="2816352" cy="1298448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85032"/>
            <a:ext cx="2816352" cy="59436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81304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價值是什麼？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123944"/>
            <a:ext cx="256032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十年成本約為金爐方案 1/8，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進出風口濃度差即時自證成效，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數據 100% 公開可驗證。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93008" y="3685032"/>
            <a:ext cx="2816352" cy="1298448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93008" y="3685032"/>
            <a:ext cx="2816352" cy="5943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21024" y="381304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為什麼是現在？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123944"/>
            <a:ext cx="256032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法規與陳情壓力收緊、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感測與邊緣運算成本降至 1/10、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文化保存意識抬頭——首度對齊。</a:t>
            </a:r>
          </a:p>
        </p:txBody>
      </p:sp>
      <p:pic>
        <p:nvPicPr>
          <p:cNvPr id="27" name="Picture 26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48072"/>
            <a:ext cx="5029200" cy="30379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8222615"/>
            <a:ext cx="5760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圖〇　專案一覽：問題・對象・方案・價值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RESEARCH 3-1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文化溯源：香從何處來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pic>
        <p:nvPicPr>
          <p:cNvPr id="9" name="Picture 8" descr="image17.jpg"/>
          <p:cNvPicPr>
            <a:picLocks noChangeAspect="1"/>
          </p:cNvPicPr>
          <p:nvPr/>
        </p:nvPicPr>
        <p:blipFill>
          <a:blip r:embed="rId2"/>
          <a:srcRect t="11058" b="11058"/>
          <a:stretch>
            <a:fillRect/>
          </a:stretch>
        </p:blipFill>
        <p:spPr>
          <a:xfrm>
            <a:off x="548640" y="1417320"/>
            <a:ext cx="5760720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547872"/>
            <a:ext cx="5760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圖 1-1　古畫中的焚香儀式——香與人類文明同壽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931920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一縷煙，三千年：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公元前兩千年美索不達米亞與古埃及焚乳香通神；印度《吠陀》普迦儀式；漢唐隨佛教東傳入華鼎盛。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89704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439412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跨文明共同語言：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不同的神、不同的經典，同樣以一縷上升的煙作為凡俗與神聖之間的媒介。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97196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46904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一炷心香＝人神溝通的憑證：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點香敬告、持香祈願、插香定願——香的數量、方向與插法皆有儀軌。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00116"/>
            <a:ext cx="1834896" cy="96012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618988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27.9%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6039612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台灣專奉民間信仰人口
（中研院 2021）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1552" y="5500116"/>
            <a:ext cx="1834896" cy="96012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1552" y="5618988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66%+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6416" y="6039612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民間信仰＋佛＋道
三者合計人口比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74464" y="5500116"/>
            <a:ext cx="1834896" cy="96012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4464" y="5618988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~80%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9328" y="6039612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學界估計涉民間信仰
之人口上限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6606540"/>
            <a:ext cx="5760720" cy="457200"/>
          </a:xfrm>
          <a:prstGeom prst="roundRect">
            <a:avLst>
              <a:gd name="adj" fmla="val 5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6606540"/>
            <a:ext cx="40640" cy="457200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6606540"/>
            <a:ext cx="5376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香不只是宗教用品——是身體儀軌、嗅覺記憶、世代相傳的文化 DNA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RESEARCH 3-2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影響力量化：這縷煙有多大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pic>
        <p:nvPicPr>
          <p:cNvPr id="9" name="Picture 8" descr="image22.jpg"/>
          <p:cNvPicPr>
            <a:picLocks noChangeAspect="1"/>
          </p:cNvPicPr>
          <p:nvPr/>
        </p:nvPicPr>
        <p:blipFill>
          <a:blip r:embed="rId2"/>
          <a:srcRect t="20386" b="20386"/>
          <a:stretch>
            <a:fillRect/>
          </a:stretch>
        </p:blipFill>
        <p:spPr>
          <a:xfrm>
            <a:off x="548640" y="1417320"/>
            <a:ext cx="576072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730752"/>
            <a:ext cx="5760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圖 1-2　進香遶境——連結數十億人口的文化長廊（歷史影像）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1834896" cy="96012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33672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17 億+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4654296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全球印度教＋佛教人口
日常儀式多與焚香相關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1552" y="4114800"/>
            <a:ext cx="1834896" cy="96012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1552" y="4233672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46–48 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6416" y="4654296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美元・全球香品市場
年複合成長率約 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74464" y="4114800"/>
            <a:ext cx="1834896" cy="96012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4464" y="4233672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1.2 萬座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9328" y="4654296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台灣登記廟宇
（越南 1.8 萬座）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21224"/>
            <a:ext cx="1834896" cy="86868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40096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80 億元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5669280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大甲媽祖遶境
單一慶典帶動消費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1552" y="5221224"/>
            <a:ext cx="1834896" cy="86868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1552" y="5340096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數十萬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6416" y="5669280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亞洲製香產業
從業人口（家庭工坊為主）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74464" y="5221224"/>
            <a:ext cx="1834896" cy="86868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4464" y="5340096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43%+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9328" y="5669280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亞太占全球香品市場
比重（絕對核心）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04788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6254496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文化尺度：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從恆河畔的普迦、日本神社薰香、到台灣廟埕香火——焚香橫跨地球人口最稠密的信仰帶。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812280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6761988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經濟尺度：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產業鏈底層是龐大的中小微製造業與家庭生計，任何治理方案都不能無視這一層。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726948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數據出處：市場研究機構 2024–2025 估計、行政院／越南佛教會統計（2020）——詳見參考來源。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RESEARCH 3-3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問題（一）：污染、季風與產業的連鎖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834896" cy="100584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36192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1,360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μg/m³・龍山寺殿內實測
≈ 戶外平均 50 倍（台大 2015）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1552" y="1417320"/>
            <a:ext cx="1834896" cy="100584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1552" y="1536192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97.0±65.4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6416" y="2002536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μg/m³・台灣廟宇殿內均值
（AAQR 同儕審查 2022）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4464" y="1417320"/>
            <a:ext cx="1834896" cy="100584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4464" y="1536192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2 萬輛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9328" y="2002536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汽車年排氣量≈全台年燒
3 千噸香＋24 萬噸金紙</a:t>
            </a:r>
          </a:p>
        </p:txBody>
      </p:sp>
      <p:pic>
        <p:nvPicPr>
          <p:cNvPr id="18" name="Picture 17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87752"/>
            <a:ext cx="5577840" cy="23762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48640" y="5124037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073745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季風放大傷害：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冬季東北季風期擴散條件最差，恰與春節、初一十五的焚香高峰重疊——靠自然擴散稀釋的期待落空。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31529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581237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污染反噬產業：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空污標籤直接壓抑香品市場需求——治理污染，其實也是在救這個產業。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088729"/>
            <a:ext cx="5760720" cy="457200"/>
          </a:xfrm>
          <a:prstGeom prst="roundRect">
            <a:avLst>
              <a:gd name="adj" fmla="val 5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6088729"/>
            <a:ext cx="40640" cy="457200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6088729"/>
            <a:ext cx="5376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這是一個規模不容忽視、且被氣象週期系統性放大的點源污染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RESEARCH 3-3B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創新性與前案分析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於 Google Patents／USPTO 與學術資料庫逐類檢索——釐清「元件已知」與「組合創新」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既有前案六大類（檢索結果）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01952"/>
            <a:ext cx="1847088" cy="310896"/>
          </a:xfrm>
          <a:prstGeom prst="roundRect">
            <a:avLst>
              <a:gd name="adj" fmla="val 55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01952"/>
            <a:ext cx="1847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電熱／霧化取代燃燒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5456" y="1901952"/>
            <a:ext cx="1847088" cy="310896"/>
          </a:xfrm>
          <a:prstGeom prst="roundRect">
            <a:avLst>
              <a:gd name="adj" fmla="val 55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05456" y="1901952"/>
            <a:ext cx="1847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仿真電子香爐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1901952"/>
            <a:ext cx="1847088" cy="310896"/>
          </a:xfrm>
          <a:prstGeom prst="roundRect">
            <a:avLst>
              <a:gd name="adj" fmla="val 55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901952"/>
            <a:ext cx="1847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磁錨定機器人（外科）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04288"/>
            <a:ext cx="1847088" cy="310896"/>
          </a:xfrm>
          <a:prstGeom prst="roundRect">
            <a:avLst>
              <a:gd name="adj" fmla="val 55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304288"/>
            <a:ext cx="1847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製香機（製造端）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5456" y="2304288"/>
            <a:ext cx="1847088" cy="310896"/>
          </a:xfrm>
          <a:prstGeom prst="roundRect">
            <a:avLst>
              <a:gd name="adj" fmla="val 55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05456" y="2304288"/>
            <a:ext cx="1847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建築 CO2 前饋通風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2304288"/>
            <a:ext cx="1847088" cy="310896"/>
          </a:xfrm>
          <a:prstGeom prst="roundRect">
            <a:avLst>
              <a:gd name="adj" fmla="val 55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2304288"/>
            <a:ext cx="1847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廟宇靜電淨化櫃（被動）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779776"/>
            <a:ext cx="5760720" cy="457200"/>
          </a:xfrm>
          <a:prstGeom prst="roundRect">
            <a:avLst>
              <a:gd name="adj" fmla="val 5500"/>
            </a:avLst>
          </a:prstGeom>
          <a:solidFill>
            <a:srgbClr val="F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779776"/>
            <a:ext cx="40640" cy="4572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779776"/>
            <a:ext cx="5376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檢索確認：「真實燃燒香爐的爐內點源・閉環自主治理」此一場域組合，前案未見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33572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383280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交集一：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爐口點源的 retrofit 主動治理——非取代燃燒、非全室換氣、不要求信眾改變行為。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41064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890772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交集二：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把建築級 CO2 前饋通風移植到受儀式約束的宗教場域——以人流先行指標在尖峰前啟動抽排。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48556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398264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交集三：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「CO/CO2 比＋爐溫」悶燒特徵偵測，搭配分級抽排與告警，決策全紀錄可重演。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56048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905756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新穎性邊界：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不宣稱單一元件為新發明；主張「儀式場域點源前饋控制方法」為可申請之方法專利。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458968"/>
            <a:ext cx="5760720" cy="1170432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458968"/>
            <a:ext cx="82296" cy="1170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577840"/>
            <a:ext cx="5303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敢刪，也是創新的一部分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我們曾投入開發磁力理香機構並研議結構專利，2026 年 8 月設計檢討確認它與信眾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「隨手插進香灰」的真實行為不相容——整組主動移除，資源集中於真正有效的抽排治理。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敢於刪去已投入的設計，把資源押在真正有效的路線上。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RESEARCH 3-4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問題（二）：香在污染源中的相對定位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信仰者傾向低估、倡議者傾向孤立放大——精準定位問題，才能設計比例得當的解方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834896" cy="160020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1834896" cy="59436"/>
          </a:xfrm>
          <a:prstGeom prst="rect">
            <a:avLst/>
          </a:prstGeom>
          <a:solidFill>
            <a:srgbClr val="8A8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819656"/>
            <a:ext cx="1578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車輛廢氣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130552"/>
            <a:ext cx="15788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室外・廣域・長時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背景型污染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對策：總量管制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＋電動化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1552" y="1691640"/>
            <a:ext cx="1834896" cy="160020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1552" y="1691640"/>
            <a:ext cx="1834896" cy="5943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9568" y="1819656"/>
            <a:ext cx="1578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二手菸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9568" y="2130552"/>
            <a:ext cx="15788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室內・點源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已被菸害防制法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強力規範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對策：行為管制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4464" y="1691640"/>
            <a:ext cx="1834896" cy="160020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74464" y="1691640"/>
            <a:ext cx="1834896" cy="5943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2480" y="1819656"/>
            <a:ext cx="1578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焚香（本案）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2480" y="2130552"/>
            <a:ext cx="15788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室內半密閉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高強度點源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暴露人群明確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對策：局部主動治理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06724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456432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同源不同構：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三者皆為不完全燃燒產物（PM2.5、CO、苯、甲醛、多環芳香烴），差異在暴露的情境結構。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14216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963924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洞見一：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焚香更接近二手菸而非車輛廢氣——可界定範圍的室內點源，正當化「爐口點源捕集」的技術路線。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21708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471416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洞見二：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二手菸靠禁令解決是因為吸菸非信仰核心；焚香是——所以本案選擇治理而非禁止。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24628"/>
            <a:ext cx="5760720" cy="457200"/>
          </a:xfrm>
          <a:prstGeom prst="roundRect">
            <a:avLst>
              <a:gd name="adj" fmla="val 5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024628"/>
            <a:ext cx="40640" cy="457200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024628"/>
            <a:ext cx="5376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「點源 ＋ 半密閉」的組合，讓局部濃度可達極端；也讓局部治理效率最高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RESEARCH 3-5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問題（三）：暴露與非暴露者的健康落差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pic>
        <p:nvPicPr>
          <p:cNvPr id="9" name="Picture 8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577840" cy="264125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4218594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168302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三高俱全：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殿內半密閉累積濃度、駐廟人員與虔誠信眾長時反覆暴露、插香瞬間緊鄰爐口。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26086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675794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醫學證據：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台大實測——焚香 PM2.5 中的黑碳與頸動脈內膜增厚相關（心肌梗塞與中風前兆因子）。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233578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183286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流行病學：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新加坡 61,320 人前瞻世代研究——長期每日焚香與呼吸道鱗癌顯著相關，風險比 1.8（95% CI 1.2–2.6）。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741070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690778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權威分類：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WHO／IARC 已將粒狀空氣污染物列為一級致癌物；香煙中苯、甲醛、多環芳香烴同屬致癌物。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RESEARCH 3-6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既有方案的比較與本案的定位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737360" cy="658368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17320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封爐・心香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59" y="1472184"/>
            <a:ext cx="2514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行天宮撤爐後殿內 15.2 μg/m³、信眾反增二成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472184"/>
            <a:ext cx="1280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有效，但儀式被大幅簡化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67128"/>
            <a:ext cx="1737360" cy="658368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167128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環保金爐＋碳權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59" y="2221992"/>
            <a:ext cx="2514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武德宮六年打造、全球首座碳中和廟宇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21992"/>
            <a:ext cx="1280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約 500 萬元，中小廟無法複製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16936"/>
            <a:ext cx="1737360" cy="658368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16936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政策減量・集中焚燒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59" y="2971800"/>
            <a:ext cx="2514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「一尊三減」推動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971800"/>
            <a:ext cx="1280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牴觸儀式核心，2017 衝突導火線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66744"/>
            <a:ext cx="1737360" cy="658368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66744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清淨機・IoT 監測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59" y="3721608"/>
            <a:ext cx="2514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常溫全室設計／只量不治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721608"/>
            <a:ext cx="1280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管不到爐口；沒有致動器</a:t>
            </a:r>
          </a:p>
        </p:txBody>
      </p:sp>
      <p:pic>
        <p:nvPicPr>
          <p:cNvPr id="25" name="Picture 24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4453128"/>
            <a:ext cx="4480560" cy="323566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48640" y="7798524"/>
            <a:ext cx="5760720" cy="457200"/>
          </a:xfrm>
          <a:prstGeom prst="roundRect">
            <a:avLst>
              <a:gd name="adj" fmla="val 5500"/>
            </a:avLst>
          </a:prstGeom>
          <a:solidFill>
            <a:srgbClr val="F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7798524"/>
            <a:ext cx="40640" cy="4572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7798524"/>
            <a:ext cx="5376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本案的定位：既有方案全數缺席的第四象限——儀式完整 × 可負擔 × 有效 × 可驗證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RESEARCH 3-7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禁香的代價（一）：被剝奪的心理慰藉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pic>
        <p:nvPicPr>
          <p:cNvPr id="9" name="Picture 8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577840" cy="24462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4023565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973273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心理調節機制：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點香的儀式動作、香氣的嗅覺記憶、「心意已上達」的確信——安定情緒、緩解焦慮、寄託哀思。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31057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480765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剝奪的代價：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對高齡、傳統、或身處人生變故中的族群，「以心香代替」在理性上成立、在情感上留下空缺。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38549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988257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歷史的證言：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2017 年「減香」誤傳為「滅香」，數萬人上凱道——人們捍衛的是不可替代的情感依託與身分認同。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41469"/>
            <a:ext cx="5760720" cy="457200"/>
          </a:xfrm>
          <a:prstGeom prst="roundRect">
            <a:avLst>
              <a:gd name="adj" fmla="val 5500"/>
            </a:avLst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541469"/>
            <a:ext cx="40640" cy="457200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541469"/>
            <a:ext cx="5376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本案立場：保留慰藉、移除傷害——把「香的心理價值」與「香的空氣污染」在技術上解耦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RESEARCH 3-8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禁香的代價（二）：產業與經濟的崩塌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思想實驗：若焚香被全面禁止，經濟後果如何？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834896" cy="100584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10512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70 萬+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276856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印度手工捲香工人
逾八成為女性（MSME 部）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1552" y="1691640"/>
            <a:ext cx="1834896" cy="100584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1552" y="1810512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46–48 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6416" y="2276856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美元市場直接蒸發
年成長 6% 的擴張中市場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74464" y="1691640"/>
            <a:ext cx="1834896" cy="100584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4464" y="1810512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5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80 億元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9328" y="2276856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大甲遶境單一慶典
帶動的周邊消費</a:t>
            </a:r>
          </a:p>
        </p:txBody>
      </p:sp>
      <p:pic>
        <p:nvPicPr>
          <p:cNvPr id="19" name="Picture 18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62072"/>
            <a:ext cx="5577840" cy="237935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48640" y="5401450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351158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骨牌效應：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製香業之外，依附廟會的糕餅、食品、住宿、觀光與周邊商品——整片庶民經濟牽一髮動全身。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08942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858650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社區功能：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香火錢萎縮將削弱廟宇的修繕、公益與社區功能——傷的不只是產業，是地方生活網絡。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384430"/>
            <a:ext cx="5760720" cy="457200"/>
          </a:xfrm>
          <a:prstGeom prst="roundRect">
            <a:avLst>
              <a:gd name="adj" fmla="val 5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6384430"/>
            <a:ext cx="40640" cy="457200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6384430"/>
            <a:ext cx="5376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結論：全面禁香是社會總成本最高的選項——理性出路是「滿足需求、同時消除外部性」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SOLUTION 3-9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機器人方案（一）：三層閉環架構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設計命題：完整保留儀式與其文化・心理・經濟價值，以技術消除空污外部性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pic>
        <p:nvPicPr>
          <p:cNvPr id="10" name="Picture 9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760720" cy="384836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5700025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649733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為什麼必須是機器人：　</a:t>
            </a:r>
            <a:r>
              <a:rPr sz="11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多重感測＋自主決策＋實體致動的完整閉環——污染負載隨人流劇變，固定運轉的電器不是能耗過剩就是能力不足。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207517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157225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邊緣優先：　</a:t>
            </a:r>
            <a:r>
              <a:rPr sz="11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控制迴路於本地執行；數據上雲讓香客見空品、廟方見狀態、主管機關見紀錄。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715009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664717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全程可追溯：　</a:t>
            </a:r>
            <a:r>
              <a:rPr sz="11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每次動作都留存觸發數據與所採行動——「裝了沒用」的信任缺口由架構層面解決。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7208785"/>
            <a:ext cx="5760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五級故障安全階梯（實機已驗證的降級行為）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7519681"/>
            <a:ext cx="1691640" cy="292608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7519681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雲端／網路斷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7519681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本地續跑；QoS1 佇列積壓，回線自動補傳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7867153"/>
            <a:ext cx="1691640" cy="292608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7867153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Pi 決策層失效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7867153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控制器 5 秒逾時進 FALLBACK，本地 FSM 用真實 CO2 續跑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8214625"/>
            <a:ext cx="1691640" cy="292608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8214625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感測器失效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8214625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回報 -99.9 故障值＋旗標，安全態優先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8562097"/>
            <a:ext cx="1691640" cy="292608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8562097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超溫／熱電偶開路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8562097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就地聯鎖直接拉低 PWM 腳——風扇強制歸零，無軟體介入路徑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8909569"/>
            <a:ext cx="1691640" cy="292608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8909569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全系統斷電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8909569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香爐回復傳統使用——故障模式天然安全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SOLUTION 3-10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機器人方案（二）：感測、決策與前饋預測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760720" cy="230428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3881628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831336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感測選型：　</a:t>
            </a:r>
            <a:r>
              <a:rPr sz="11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雷射 PM2.5（秒級）、電化學 CO（悶燒訊號）、NDIR CO2（兼人流指標）、分區測溫（安全聯鎖）。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89120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338828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三點佈點：　</a:t>
            </a:r>
            <a:r>
              <a:rPr sz="11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爐口量源強度、呼吸高度量人體實際吸入、進出風口成對量濃度差＝即時淨化量。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96612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抗漂移四防線：　</a:t>
            </a:r>
            <a:r>
              <a:rPr sz="11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共置校正・溫濕補償・雙感測冗餘・定期歸零；互補濾波輸出「濃度＋信賴度」。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404104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353812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前饋預測（核心智慧）：　</a:t>
            </a:r>
            <a:r>
              <a:rPr sz="11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CO2 由人群呼出、先於插香高峰數分鐘上升——斜率預示人潮，系統預先升速抽排，削峰而非追趕。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911596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861304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可解釋＝可驗證：　</a:t>
            </a:r>
            <a:r>
              <a:rPr sz="11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安全決策用 FSM 與門檻規則；ML 僅輔助悶燒偵測、不直接控制致動器。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19088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368796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門檻一覽（與實機韌體同步）：　</a:t>
            </a:r>
            <a:r>
              <a:rPr sz="11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進高峰＝基線 +300ppm（呼氣即可觸發）、遲滯退場＝基線 +200；前饋 θ_ff＝120 ppm/min；風扇 duty S0/S1/S2＝0/70/220；基線＝近 10 分鐘每分鐘最小值之最小值。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7278624"/>
            <a:ext cx="5760720" cy="457200"/>
          </a:xfrm>
          <a:prstGeom prst="roundRect">
            <a:avLst>
              <a:gd name="adj" fmla="val 5500"/>
            </a:avLst>
          </a:prstGeom>
          <a:solidFill>
            <a:srgbClr val="F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7278624"/>
            <a:ext cx="40640" cy="4572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7278624"/>
            <a:ext cx="5376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悶燒偵測 → 強化抽排＋告警：全鏈 &lt; 60 秒（設計目標，將實測檢定）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SOLUTION 3-11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機器人方案（三）：點源捕集與淨化機構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pic>
        <p:nvPicPr>
          <p:cNvPr id="9" name="Picture 8" descr="_view_組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280" y="1417320"/>
            <a:ext cx="390144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79976"/>
            <a:ext cx="5760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圖 2-3　展示機組裝算繪：漏斗集煙罩＋燃燒艙＋電子艙（參數化 CAD，5 件列印件）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90872"/>
            <a:ext cx="1834896" cy="146304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690872"/>
            <a:ext cx="1834896" cy="5943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4818888"/>
            <a:ext cx="1578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① 漏斗集煙罩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5129784"/>
            <a:ext cx="15788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向上外擴 180mm 大口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插香不必對準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下段直筒接風扇法蘭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倒印 34° 免支撐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1552" y="4690872"/>
            <a:ext cx="1834896" cy="146304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1552" y="4690872"/>
            <a:ext cx="1834896" cy="5943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9568" y="4818888"/>
            <a:ext cx="1578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② 三段過濾鏈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9568" y="5129784"/>
            <a:ext cx="15788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金屬紗網（火星前濾）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→ HEPA → 活性碳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順序即安全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抽拉式・扇葉吃淨氣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74464" y="4690872"/>
            <a:ext cx="1834896" cy="146304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74464" y="4690872"/>
            <a:ext cx="1834896" cy="59436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2480" y="4818888"/>
            <a:ext cx="1578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③ 變頻抽排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2480" y="5129784"/>
            <a:ext cx="15788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隨人流與濃度調速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省電・低噪・削尖峰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斷電＝回復傳統香爐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（故障安全）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300216"/>
            <a:ext cx="5760720" cy="137160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6300216"/>
            <a:ext cx="82296" cy="13716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419088"/>
            <a:ext cx="5303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設計迭代：為真實行為讓步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・集煙罩原為 96mm 縮口，插香要對準——2026-08 改為漏斗大口，行為零門檻。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・磁力理香機構與自由插香行為不相容——整組移除，資源集中於抽排治理。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・香灰沙畫人機共創為下一階段規劃——以文化藝術提升接受度。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SOLUTION 3-12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機器人方案（四）：驗證、機隊與可投資性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834896" cy="91440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36192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2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911096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高峰爐區 PM2.5
較基線降 ≥50%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1552" y="1417320"/>
            <a:ext cx="1834896" cy="91440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1552" y="1536192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2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6416" y="1911096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悶燒 60 秒內
偵測並觸發處置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4464" y="1417320"/>
            <a:ext cx="1834896" cy="91440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4464" y="1536192"/>
            <a:ext cx="1834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2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H3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9328" y="1911096"/>
            <a:ext cx="172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CO2 前饋使抽排
先於污染尖峰啟動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38658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三項假說均為設計目標：燃燒艙 2×2 對照 → 合作廟宇連續兩個初一 A/B 實測檢定；資料集與程式碼將開放。</a:t>
            </a:r>
          </a:p>
        </p:txBody>
      </p:sp>
      <p:pic>
        <p:nvPicPr>
          <p:cNvPr id="19" name="Picture 18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79192"/>
            <a:ext cx="5760720" cy="245022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48640" y="5239146"/>
            <a:ext cx="5760720" cy="1024128"/>
          </a:xfrm>
          <a:prstGeom prst="roundRect">
            <a:avLst>
              <a:gd name="adj" fmla="val 5500"/>
            </a:avLst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30586"/>
            <a:ext cx="5394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Traction｜已經在跑的證據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E3C567"/>
                </a:solidFill>
                <a:latin typeface="微軟正黑體"/>
                <a:ea typeface="微軟正黑體"/>
                <a:cs typeface="微軟正黑體"/>
              </a:rPr>
              <a:t>Pi 5＋控制器雙板原型 2026-08-08 實機上線・真實感測資料每秒入庫雲端機隊面板（模擬爐另標示）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E3C567"/>
                </a:solidFill>
                <a:latin typeface="微軟正黑體"/>
                <a:ea typeface="微軟正黑體"/>
                <a:cs typeface="微軟正黑體"/>
              </a:rPr>
              <a:t>雲端中心站 12 項驗收（C1–C12）全過・比賽現場模式演練通過（手機熱點自動上雲、斷線佇列補傳）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E3C567"/>
                </a:solidFill>
                <a:latin typeface="微軟正黑體"/>
                <a:ea typeface="微軟正黑體"/>
                <a:cs typeface="微軟正黑體"/>
              </a:rPr>
              <a:t>全案以 29 條自動化設計規則跨層自檢（機構／電路／韌體／雲端），每次改設計全鏈重驗</a:t>
            </a:r>
          </a:p>
        </p:txBody>
      </p:sp>
      <p:pic>
        <p:nvPicPr>
          <p:cNvPr id="22" name="Picture 21" descr="qr_fl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6391290"/>
            <a:ext cx="1207008" cy="12070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102352" y="7616586"/>
            <a:ext cx="1207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8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掃碼即看
機隊即時面板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41582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6391290"/>
            <a:ext cx="4142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公開可查核：　</a:t>
            </a:r>
            <a:r>
              <a:rPr sz="10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3 個免帳密公開唯讀儀表板（Tailscale Funnel HTTPS）——評審此刻就能打開看即時資料。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949074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6898782"/>
            <a:ext cx="4142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工程深度：　</a:t>
            </a:r>
            <a:r>
              <a:rPr sz="10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電氣驗算階段抓出 RA4M1 VIH=4.0V 相容性缺陷（3.3V 訊號接不進數位腳，改走類比腳解決）；KiCad ERC 44 項違規修至 0；9 項電氣介面驗算 8 項合格、1 項調參中。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7840614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7790322"/>
            <a:ext cx="4142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機隊思維：　</a:t>
            </a:r>
            <a:r>
              <a:rPr sz="10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遠端健康監測＋OTA 更新＋區域巡迴物流——邊際維護成本隨導入密度遞減。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8348106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8297814"/>
            <a:ext cx="4142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投資視角：　</a:t>
            </a:r>
            <a:r>
              <a:rPr sz="10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真實市場（近 50 億美元）×經常性收入×方法專利＋場域資料庫護城河×可橫向移植的核心。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IMPACT 4-1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社會衝擊：利害關係人與影響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pic>
        <p:nvPicPr>
          <p:cNvPr id="9" name="Picture 8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669280" cy="31602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4705633"/>
            <a:ext cx="5760720" cy="146304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705633"/>
            <a:ext cx="82296" cy="1463040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24505"/>
            <a:ext cx="5303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一個具體的清晨（使用情境）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初一清晨，人潮湧入之前 CO2 先行上升，系統已預先增速抽排；人潮抵達時抽排已在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高速運轉，污染尖峰被削平。廟公在面板上看見進出風口的濃度差，確知系統真的在工作；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隔壁鄰居這個月沒有再打電話檢舉。沒有任何人被要求改變信仰的方式，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但每個人的肺都輕鬆了一點。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314977"/>
            <a:ext cx="5760720" cy="457200"/>
          </a:xfrm>
          <a:prstGeom prst="roundRect">
            <a:avLst>
              <a:gd name="adj" fmla="val 5500"/>
            </a:avLst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314977"/>
            <a:ext cx="40640" cy="457200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6314977"/>
            <a:ext cx="5376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最大社會價值：讓 2017 年對立的「環保」與「信仰」，在同一座香爐上和解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IMPACT 4-2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文化保存的第三條路與全球普遍性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669280" cy="26392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4216585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166293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雙重命中主題：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Robots Meet Culture——Area 1 保護「活著的儀式」；Area 2 人機共創（香灰沙畫，規劃中）。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24077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673785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機器人的三重角色：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守護者（治理污染）、共同創作者（沙畫美學）、傳承橋梁（數據面板讓年輕世代重新認識傳統）。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231569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181277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從龍山寺到世界：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華人線香、日本薰香、印度香枝、天主教乳香——凡有焚香儀式之處，即有同型張力，本架構皆可移植。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34489"/>
            <a:ext cx="5760720" cy="457200"/>
          </a:xfrm>
          <a:prstGeom prst="roundRect">
            <a:avLst>
              <a:gd name="adj" fmla="val 5500"/>
            </a:avLst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734489"/>
            <a:ext cx="40640" cy="457200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734489"/>
            <a:ext cx="5376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科技隱身於爐，文化站在台前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IMPACT 4-3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SDGs 對應、影響量測與開放資料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pic>
        <p:nvPicPr>
          <p:cNvPr id="9" name="Picture 8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760720" cy="284295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4420292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370000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量測原則一：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每項主張配一個可量測指標——不做無法驗證的 ESG 宣稱。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27784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877492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量測原則二：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資料來源為 3-12 之實驗與長期營運紀錄，量測方法公開。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35276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384984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量測原則三：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工程指標與社會指標並列——本案的影響本質上是雙軌的。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750744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700452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開放資料承諾：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匿名化廟宇空品資料集與全部程式碼開放——讓結論可重現、可檢驗，也讓後續研究者站在我們肩上。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253664"/>
            <a:ext cx="5760720" cy="457200"/>
          </a:xfrm>
          <a:prstGeom prst="roundRect">
            <a:avLst>
              <a:gd name="adj" fmla="val 5500"/>
            </a:avLst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6253664"/>
            <a:ext cx="40640" cy="457200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253664"/>
            <a:ext cx="5376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借鏡企業 ESG 揭露紀律：目標 → 指標 → 量測 → 揭露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IMPACT 4-4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商業模式與資料飛輪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pic>
        <p:nvPicPr>
          <p:cNvPr id="9" name="Picture 8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394960" cy="345645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033794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983502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價值主張（市場唯一四合一）：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不禁香不封爐×中小廟負擔得起×數據可驗證×文化共創體驗。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541286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490994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訂閱制的誘因對齊：　</a:t>
            </a:r>
            <a:r>
              <a:rPr sz="11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收入與廟宇空品綁在一起——空氣越乾淨、訂閱越有價值、續約率越高；「持續有效」變成商業模式本身。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16774"/>
            <a:ext cx="5760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資料飛輪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327670"/>
            <a:ext cx="1064361" cy="310896"/>
          </a:xfrm>
          <a:prstGeom prst="roundRect">
            <a:avLst>
              <a:gd name="adj" fmla="val 55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327670"/>
            <a:ext cx="106436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86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① 導入設備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22729" y="6327670"/>
            <a:ext cx="1064361" cy="310896"/>
          </a:xfrm>
          <a:prstGeom prst="roundRect">
            <a:avLst>
              <a:gd name="adj" fmla="val 55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22729" y="6327670"/>
            <a:ext cx="106436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86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② 累積廟宇數據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96819" y="6327670"/>
            <a:ext cx="1064361" cy="310896"/>
          </a:xfrm>
          <a:prstGeom prst="roundRect">
            <a:avLst>
              <a:gd name="adj" fmla="val 55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96819" y="6327670"/>
            <a:ext cx="106436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86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③ 模型/控制更精準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70908" y="6327670"/>
            <a:ext cx="1064361" cy="310896"/>
          </a:xfrm>
          <a:prstGeom prst="roundRect">
            <a:avLst>
              <a:gd name="adj" fmla="val 55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70908" y="6327670"/>
            <a:ext cx="106436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86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④ 成效與口碑更好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44998" y="6327670"/>
            <a:ext cx="1064361" cy="310896"/>
          </a:xfrm>
          <a:prstGeom prst="roundRect">
            <a:avLst>
              <a:gd name="adj" fmla="val 55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44998" y="6327670"/>
            <a:ext cx="106436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86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⑤ 帶動更多導入 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78487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配合 3-12 機隊營運（OTA）與 4-3 開放資料承諾——兼顧商業護城河與公共利益。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IMPACT 4-5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市場分析、財務策略與智財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120640" cy="285009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4427438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377146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SOM 由下而上試算（假設明列）：　</a:t>
            </a:r>
            <a:r>
              <a:rPr sz="10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北部聯誼會轄下約 200 座 × 三年轉換 15% ≈ 30 座；以基礎款設備＋年度訂閱計，三年累計營收約數百萬元量級——將以首座試點實績修正。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126954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076662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價值數學（廟方帳本）：　</a:t>
            </a:r>
            <a:r>
              <a:rPr sz="10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導入前的隱性成本＝陳情壓力＋稽查＋信眾流失；導入後＝遠低於 500 萬級方案的設備價＋訂閱；補助可再覆蓋部分成本。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826470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776178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定價錨定：　</a:t>
            </a:r>
            <a:r>
              <a:rPr sz="10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以武德宮 500 萬方案為天花板，基礎款目標為其數十分之一量級（設計目標，將以 BOM 試產驗證）。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333962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283670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智財策略：　</a:t>
            </a:r>
            <a:r>
              <a:rPr sz="10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核心為「儀式場域點源前饋控制方法」（方法專利）；場域資料庫與廟宇信任網絡是難以複製的資產。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841454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6791162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第二成長曲線：　</a:t>
            </a:r>
            <a:r>
              <a:rPr sz="10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「感測—決策—機構」核心可移植至餐飲油煙、金爐改造與密閉空間空品。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IMPACT 4-5B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商業價值量化與競品對比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394960" cy="3398938"/>
          </a:xfrm>
          <a:prstGeom prst="rect">
            <a:avLst/>
          </a:prstGeom>
        </p:spPr>
      </p:pic>
      <p:pic>
        <p:nvPicPr>
          <p:cNvPr id="10" name="Picture 9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4925986"/>
            <a:ext cx="3794760" cy="31813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8217111"/>
            <a:ext cx="5760720" cy="457200"/>
          </a:xfrm>
          <a:prstGeom prst="roundRect">
            <a:avLst>
              <a:gd name="adj" fmla="val 5500"/>
            </a:avLst>
          </a:prstGeom>
          <a:solidFill>
            <a:srgbClr val="F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8217111"/>
            <a:ext cx="40640" cy="4572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8217111"/>
            <a:ext cx="5376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以碳中和金爐約 1/8 的十年成本，換得四維無短板的完整能力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IMPACT 4-6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推廣里程碑與反方壓力測試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pic>
        <p:nvPicPr>
          <p:cNvPr id="9" name="Picture 8" descr="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669280" cy="24183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3945412"/>
            <a:ext cx="2816352" cy="1170432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945412"/>
            <a:ext cx="2816352" cy="59436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40734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廟方不在乎空污？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4384324"/>
            <a:ext cx="25603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錨定「解決你的麻煩」：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陳情・稽查・香火形象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而非「拯救地球」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3945412"/>
            <a:ext cx="2816352" cy="1170432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3008" y="3945412"/>
            <a:ext cx="2816352" cy="59436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40734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信眾抗拒機器？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4384324"/>
            <a:ext cx="25603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科技隱身於爐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自願試點＋共創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逐步建立接受度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62148"/>
            <a:ext cx="2816352" cy="1170432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262148"/>
            <a:ext cx="2816352" cy="59436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39016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效果不如預期？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701060"/>
            <a:ext cx="25603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「可驗證」內建於產品：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濃度差自證成效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數據不佳我們最先知道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93008" y="5262148"/>
            <a:ext cx="2816352" cy="1170432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93008" y="5262148"/>
            <a:ext cx="2816352" cy="59436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4" y="539016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巨頭進場模仿？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1024" y="5701060"/>
            <a:ext cx="25603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護城河不在硬體：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廟宇信任網絡＋場域資料庫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用錢買不到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647464"/>
            <a:ext cx="82296" cy="82296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6597172"/>
            <a:ext cx="5559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交付物綁定：　</a:t>
            </a:r>
            <a:r>
              <a:rPr sz="10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每一期里程碑均綁定可驗收交付物（實測報告、續訂率、維運 SOP），經費使用與里程碑逐期對應。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LIST OF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5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參考來源清單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502920" cy="33020"/>
          </a:xfrm>
          <a:prstGeom prst="rect">
            <a:avLst/>
          </a:prstGeom>
          <a:solidFill>
            <a:srgbClr val="8A8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42415"/>
            <a:ext cx="5193792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18904"/>
            <a:ext cx="5760720" cy="1016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564624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B9B9B4"/>
                </a:solidFill>
                <a:latin typeface="微軟正黑體"/>
                <a:ea typeface="微軟正黑體"/>
                <a:cs typeface="微軟正黑體"/>
              </a:rPr>
              <a:t>智慧香爐｜香火不滅・空氣常青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6462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950" b="1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7432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[1] WRO 2026 Future Innovators: Robots Meet Culture — General Rules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[2] 公視新聞（2015）龍山寺殿內 PM2.5 實測 1,360 μg/m³（台大團隊）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[3] 自由時報（2015）焚香 PM2.5、黑碳與動脈硬化、IARC 一級致癌物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[4] ETtoday（2015）大節日廟宇周邊住家室內 PM2.5 達 3–400 μg/m³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[5] 交大喀報（2018）轉引環保署：年燒線香 3 千噸、金紙 24 萬噸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[6] NOWnews（2017）723 眾神上凱道，主辦估 5 萬人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[7] 公視新聞（2017）「減香」誤傳「滅香」；年 3 千餘件宮廟空污陳情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[8] 關鍵評論網（2017）行天宮撤爐後 PM2.5 15.2、信眾增兩成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[9] Yahoo 新聞（2017）龍山寺減爐後空氣盒子監測數據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[10] 關鍵評論網（2017）「一尊三減」與集中焚燒爭議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[11] 聯合／自由（2024）武德宮環保金爐＋約 500 萬購碳權，全球首座碳中和廟宇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[12] 衛福部：焚香燒金健康宣導（苯、甲醛、多環芳香烴）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[13] READr／內政部（2019）登記寺廟 12,279 座；好房網：傳統宮廟 9 千餘座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463040"/>
            <a:ext cx="27432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[14] NOWnews（2025）熱門廟宇單季參訪達數百萬人次（觀光署）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[15] 環境資訊中心：減香政策使製香業者銷售腰斬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[16] Friborg et al.（2008）Cancer：61,320 人世代研究，OR=1.8（1.2–2.6）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[17] Tang et al.（2024）Cancer Reports：焚香與肺癌 meta 分析 OR=1.34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[18] AAQR（2022）台越廟宇 PM 特徵：台灣殿內均值 97.0±65.4 μg/m³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[19] 中研院社會所（2021）台灣社會變遷基本調查：信仰人口結構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[20] US11766498B2 電熱霧化香爐（前案）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[21] CN101078511A 仿真環保香爐（前案）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[22] WO2013159573A1 磁錨定機器人系統（外科，前案）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[23] CN202702664U 等 製香機（製造端，前案）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[24] US6916239 等 建築 CO2 需求控制通風（前案）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88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[25] KLEAN 廟宇靜電淨化櫃（被動過濾，前案）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7040880"/>
            <a:ext cx="5760720" cy="2011680"/>
          </a:xfrm>
          <a:prstGeom prst="roundRect">
            <a:avLst>
              <a:gd name="adj" fmla="val 5500"/>
            </a:avLst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7040880"/>
            <a:ext cx="82296" cy="2011680"/>
          </a:xfrm>
          <a:prstGeom prst="rect">
            <a:avLst/>
          </a:prstGeom>
          <a:solidFill>
            <a:srgbClr val="8A8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7178040"/>
            <a:ext cx="53035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人工智慧使用揭露（依 WRO 2026 規則）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本報告使用 Claude（Anthropic）與 Perplexity 協助：將團隊撰寫之《作品構想書》整理為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論文體文字、蒐集整理公開資料來源；2026 年 8 月改版之文字改寫、資訊圖重繪與版面設計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亦由 Claude 協助完成。作品構想、機構設計與核心論述皆由團隊提出；設計決策（含理香機構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之移除、集煙罩漏斗化）由團隊定案。引用數據均註明公開出處；所有成效數字均標示為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設計目標而非實測結果。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